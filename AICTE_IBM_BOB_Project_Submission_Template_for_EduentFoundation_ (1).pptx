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90" r:id="rId2"/>
    <p:sldId id="291" r:id="rId3"/>
    <p:sldId id="292" r:id="rId4"/>
    <p:sldId id="293" r:id="rId5"/>
    <p:sldId id="294" r:id="rId6"/>
    <p:sldId id="295" r:id="rId7"/>
    <p:sldId id="296" r:id="rId8"/>
    <p:sldId id="297" r:id="rId9"/>
    <p:sldId id="310" r:id="rId10"/>
    <p:sldId id="298" r:id="rId11"/>
    <p:sldId id="299" r:id="rId12"/>
    <p:sldId id="300" r:id="rId13"/>
    <p:sldId id="301" r:id="rId14"/>
    <p:sldId id="302" r:id="rId15"/>
    <p:sldId id="303" r:id="rId16"/>
    <p:sldId id="311" r:id="rId17"/>
    <p:sldId id="312" r:id="rId18"/>
    <p:sldId id="313" r:id="rId19"/>
    <p:sldId id="314" r:id="rId20"/>
    <p:sldId id="315" r:id="rId21"/>
    <p:sldId id="304" r:id="rId22"/>
    <p:sldId id="305" r:id="rId23"/>
    <p:sldId id="306" r:id="rId24"/>
    <p:sldId id="307" r:id="rId25"/>
    <p:sldId id="316" r:id="rId26"/>
    <p:sldId id="317" r:id="rId27"/>
    <p:sldId id="308" r:id="rId28"/>
    <p:sldId id="309"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448"/>
    <a:srgbClr val="0D10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165F69B-41B0-768F-0295-672767BF907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48A18DA-692B-46F7-66AF-2368D692AA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E6A9C4D-ADD5-BE3B-8C33-18E6D8CC11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141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7CACF43-8D75-B0F6-F241-B38DB9D6A975}"/>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3565E92-76F5-74EB-D828-6B7C39F25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BCC9C5D-690B-22B9-C41A-EB38E08A5E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1712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1AAFC32A-0B5C-9C24-CE80-CA98A0F8BB7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5BFB2E1-7000-6DD0-F00A-651AF9DF9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7D4E87A-FE9A-E4B5-A76E-A9D66FCBFC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1545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72ED8D9-E124-B781-1427-12F5F53C120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3D42F2A-E3D3-0ADF-E66C-B13AF24FDF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63091FB-BB67-24D0-12D9-5EF823EAA1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8050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916F305-314B-61D5-43A3-A2CA32F84704}"/>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2689D959-8005-3916-2001-0C3AB09D6B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74DFB7EB-AD4A-C805-C24D-53487504FC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6700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90890472"/>
              </p:ext>
            </p:extLst>
          </p:nvPr>
        </p:nvGraphicFramePr>
        <p:xfrm>
          <a:off x="1299255" y="2128746"/>
          <a:ext cx="9394989" cy="4452613"/>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456009">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996604">
                <a:tc>
                  <a:txBody>
                    <a:bodyPr/>
                    <a:lstStyle/>
                    <a:p>
                      <a:pPr marL="0" marR="0" lvl="0" indent="0" algn="l" rtl="0">
                        <a:spcBef>
                          <a:spcPts val="0"/>
                        </a:spcBef>
                        <a:spcAft>
                          <a:spcPts val="0"/>
                        </a:spcAft>
                        <a:buNone/>
                      </a:pPr>
                      <a:r>
                        <a:rPr lang="en-IN" sz="2000" dirty="0"/>
                        <a:t>Nayana V 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nayana.vm.2026@gmail.com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6361899393</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IN" sz="2800" dirty="0"/>
              <a:t>FinTech / Cyber Security / Public Welfare</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954107"/>
          </a:xfrm>
          <a:prstGeom prst="rect">
            <a:avLst/>
          </a:prstGeom>
          <a:noFill/>
        </p:spPr>
        <p:txBody>
          <a:bodyPr wrap="square" rtlCol="0">
            <a:spAutoFit/>
          </a:bodyPr>
          <a:lstStyle/>
          <a:p>
            <a:r>
              <a:rPr lang="en-US" sz="2400" b="1" dirty="0"/>
              <a:t>Project Tile – </a:t>
            </a:r>
            <a:r>
              <a:rPr lang="en-IN" sz="2800" dirty="0" err="1"/>
              <a:t>FinLitBot</a:t>
            </a:r>
            <a:r>
              <a:rPr lang="en-IN" sz="2800" dirty="0"/>
              <a:t> – AI Agent for Digital Financial Literacy &amp; Cyber Fraud Prevention </a:t>
            </a:r>
            <a:endParaRPr lang="en-IN" sz="2800" b="1" dirty="0">
              <a:highlight>
                <a:srgbClr val="FFFF00"/>
              </a:highlight>
            </a:endParaRPr>
          </a:p>
        </p:txBody>
      </p:sp>
      <p:pic>
        <p:nvPicPr>
          <p:cNvPr id="5" name="Picture 4">
            <a:extLst>
              <a:ext uri="{FF2B5EF4-FFF2-40B4-BE49-F238E27FC236}">
                <a16:creationId xmlns:a16="http://schemas.microsoft.com/office/drawing/2014/main" id="{DEB3196A-B4DF-111D-7DDE-B1165B8D9664}"/>
              </a:ext>
            </a:extLst>
          </p:cNvPr>
          <p:cNvPicPr>
            <a:picLocks noChangeAspect="1"/>
          </p:cNvPicPr>
          <p:nvPr/>
        </p:nvPicPr>
        <p:blipFill>
          <a:blip r:embed="rId3"/>
          <a:srcRect b="10237"/>
          <a:stretch>
            <a:fillRect/>
          </a:stretch>
        </p:blipFill>
        <p:spPr>
          <a:xfrm>
            <a:off x="3562394" y="3806111"/>
            <a:ext cx="2008087" cy="216678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641589"/>
            <a:ext cx="10607040" cy="6524863"/>
          </a:xfrm>
          <a:prstGeom prst="rect">
            <a:avLst/>
          </a:prstGeom>
          <a:noFill/>
        </p:spPr>
        <p:txBody>
          <a:bodyPr wrap="square" rtlCol="0">
            <a:spAutoFit/>
          </a:bodyPr>
          <a:lstStyle/>
          <a:p>
            <a:pPr fontAlgn="base"/>
            <a:r>
              <a:rPr lang="en-US" sz="2000" b="1" dirty="0"/>
              <a:t>Problem Statement </a:t>
            </a:r>
            <a:r>
              <a:rPr lang="en-US" b="1" dirty="0"/>
              <a:t>: </a:t>
            </a:r>
            <a:r>
              <a:rPr lang="en-IN" sz="1600" dirty="0"/>
              <a:t>AI Agent for Digital Financial Literacy</a:t>
            </a:r>
            <a:endParaRPr lang="en-US" sz="1600" dirty="0"/>
          </a:p>
          <a:p>
            <a:pPr fontAlgn="base"/>
            <a:endParaRPr lang="en-US" sz="1600" b="1" dirty="0"/>
          </a:p>
          <a:p>
            <a:pPr fontAlgn="base"/>
            <a:r>
              <a:rPr lang="en-US" sz="1600" b="1" dirty="0"/>
              <a:t>The Challenge</a:t>
            </a:r>
            <a:r>
              <a:rPr lang="en-US" sz="1600" dirty="0"/>
              <a:t> </a:t>
            </a:r>
          </a:p>
          <a:p>
            <a:pPr fontAlgn="base"/>
            <a:r>
              <a:rPr lang="en-IN" sz="1600" dirty="0"/>
              <a:t>Digital payment adoption via UPI in India has grown rapidly, leading to increased exposure to cyber fraud, phishing links, fake loan apps, and APK malware. Citizens often lack immediate, accessible guidance during unauthorized transactions, resulting in delayed reporting and lost funds</a:t>
            </a:r>
          </a:p>
          <a:p>
            <a:pPr fontAlgn="base"/>
            <a:endParaRPr lang="en-US" sz="1600" dirty="0"/>
          </a:p>
          <a:p>
            <a:pPr fontAlgn="base"/>
            <a:r>
              <a:rPr lang="en-US" sz="1600" b="1" dirty="0"/>
              <a:t>The Objective</a:t>
            </a:r>
            <a:r>
              <a:rPr lang="en-US" sz="1600" dirty="0"/>
              <a:t> </a:t>
            </a:r>
          </a:p>
          <a:p>
            <a:r>
              <a:rPr lang="en-IN" sz="1600" dirty="0"/>
              <a:t>Build an AI-powered Digital Financial Literacy Agent that provides real-time fraud </a:t>
            </a:r>
            <a:r>
              <a:rPr lang="en-IN" sz="1600" dirty="0" err="1"/>
              <a:t>defense</a:t>
            </a:r>
            <a:r>
              <a:rPr lang="en-IN" sz="1600" dirty="0"/>
              <a:t> and financial literacy guidance for digital payment users. The solution should: </a:t>
            </a:r>
          </a:p>
          <a:p>
            <a:pPr lvl="0"/>
            <a:r>
              <a:rPr lang="en-IN" sz="1600" b="1" dirty="0"/>
              <a:t>UPI Scam Protection –</a:t>
            </a:r>
            <a:r>
              <a:rPr lang="en-IN" sz="1600" dirty="0"/>
              <a:t> Verify suspicious collect requests and QR codes while enforcing the rule to never enter a PIN to receive money. </a:t>
            </a:r>
          </a:p>
          <a:p>
            <a:pPr lvl="0"/>
            <a:r>
              <a:rPr lang="en-IN" sz="1600" b="1" dirty="0"/>
              <a:t>Financial Safety RAG Retrieval –</a:t>
            </a:r>
            <a:r>
              <a:rPr lang="en-IN" sz="1600" dirty="0"/>
              <a:t> Ground advice in verified guidelines from RBI, NPCI, and official cybercrime portals. </a:t>
            </a:r>
          </a:p>
          <a:p>
            <a:pPr lvl="0"/>
            <a:r>
              <a:rPr lang="en-IN" sz="1600" b="1" dirty="0"/>
              <a:t>Incident Triage &amp; Helpline 1930 –</a:t>
            </a:r>
            <a:r>
              <a:rPr lang="en-IN" sz="1600" dirty="0"/>
              <a:t> Guide users through immediate Golden Hour bank freezes and cyber helpline reporting protocols. </a:t>
            </a:r>
          </a:p>
          <a:p>
            <a:pPr lvl="0"/>
            <a:r>
              <a:rPr lang="en-IN" sz="1600" b="1" dirty="0"/>
              <a:t>Safe Lending Advisory –</a:t>
            </a:r>
            <a:r>
              <a:rPr lang="en-IN" sz="1600" dirty="0"/>
              <a:t> Verify RBI-registered lenders and calculate transparent loan EMIs to avoid predatory loan traps. </a:t>
            </a:r>
          </a:p>
          <a:p>
            <a:pPr lvl="0"/>
            <a:r>
              <a:rPr lang="en-IN" sz="1600" b="1" dirty="0"/>
              <a:t>Multi-Agent System –</a:t>
            </a:r>
            <a:endParaRPr lang="en-IN" sz="1600" dirty="0"/>
          </a:p>
          <a:p>
            <a:pPr lvl="1"/>
            <a:r>
              <a:rPr lang="en-IN" sz="1600" b="1" dirty="0"/>
              <a:t>UPI Sentinel Agent</a:t>
            </a:r>
            <a:r>
              <a:rPr lang="en-IN" sz="1600" dirty="0"/>
              <a:t> (payment safety and scam verification) </a:t>
            </a:r>
          </a:p>
          <a:p>
            <a:pPr lvl="1"/>
            <a:r>
              <a:rPr lang="en-IN" sz="1600" b="1" dirty="0"/>
              <a:t>Fraud Response Agent</a:t>
            </a:r>
            <a:r>
              <a:rPr lang="en-IN" sz="1600" dirty="0"/>
              <a:t> (emergency 1930 triage and fund freeze steps) </a:t>
            </a:r>
          </a:p>
          <a:p>
            <a:pPr lvl="1"/>
            <a:r>
              <a:rPr lang="en-IN" sz="1600" b="1" dirty="0"/>
              <a:t>Lending Advisory Agent</a:t>
            </a:r>
            <a:r>
              <a:rPr lang="en-IN" sz="1600" dirty="0"/>
              <a:t> (lender verification and EMI calculations) </a:t>
            </a:r>
          </a:p>
          <a:p>
            <a:pPr lvl="1"/>
            <a:r>
              <a:rPr lang="en-IN" sz="1600" b="1" dirty="0"/>
              <a:t>Financial Literacy Agent</a:t>
            </a:r>
            <a:r>
              <a:rPr lang="en-IN" sz="1600" dirty="0"/>
              <a:t> (budgeting principles and credit score guidance) </a:t>
            </a:r>
          </a:p>
          <a:p>
            <a:pPr lvl="0"/>
            <a:r>
              <a:rPr lang="en-IN" sz="1600" b="1" dirty="0"/>
              <a:t>Visualization Dashboard –</a:t>
            </a:r>
            <a:r>
              <a:rPr lang="en-IN" sz="1600" dirty="0"/>
              <a:t> Provide a responsive web portal featuring real-time chat, threat telemetry, and an interactive EMI planner. </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179924"/>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22004"/>
            <a:ext cx="10607040" cy="6186309"/>
          </a:xfrm>
          <a:prstGeom prst="rect">
            <a:avLst/>
          </a:prstGeom>
          <a:noFill/>
        </p:spPr>
        <p:txBody>
          <a:bodyPr wrap="square" rtlCol="0">
            <a:spAutoFit/>
          </a:bodyPr>
          <a:lstStyle/>
          <a:p>
            <a:pPr fontAlgn="base"/>
            <a:endParaRPr lang="en-US" b="1" dirty="0"/>
          </a:p>
          <a:p>
            <a:r>
              <a:rPr lang="en-US" b="1" dirty="0"/>
              <a:t>Proposed Solution: </a:t>
            </a:r>
            <a:r>
              <a:rPr lang="en-IN" sz="1800" dirty="0"/>
              <a:t>AI-Powered Digital Financial Literacy Agent</a:t>
            </a:r>
          </a:p>
          <a:p>
            <a:r>
              <a:rPr lang="en-IN" sz="1600" dirty="0"/>
              <a:t>The proposed solution is a multi-agent AI-powered financial protection and literacy copilot built using IBM Bob, IBM watsonx.ai, and Granite Models (</a:t>
            </a:r>
            <a:r>
              <a:rPr lang="en-IN" sz="1600" dirty="0" err="1"/>
              <a:t>ibm</a:t>
            </a:r>
            <a:r>
              <a:rPr lang="en-IN" sz="1600" dirty="0"/>
              <a:t>/granite-3-8b-instruct) to provide real-time fraud </a:t>
            </a:r>
            <a:r>
              <a:rPr lang="en-IN" sz="1600" dirty="0" err="1"/>
              <a:t>defense</a:t>
            </a:r>
            <a:r>
              <a:rPr lang="en-IN" sz="1600" dirty="0"/>
              <a:t>, payment safety verification, and financial guidance. The system addresses vulnerabilities in digital banking, phishing exposure, and predatory lending through an intelligent, modular architecture. </a:t>
            </a:r>
          </a:p>
          <a:p>
            <a:r>
              <a:rPr lang="en-IN" sz="1600" dirty="0"/>
              <a:t>At its core, the solution uses a Retrieval-Augmented Generation (RAG) pipeline grounded in verified regulatory frameworks from the Reserve Bank of India (RBI), NPCI, and the National Cyber Crime Reporting Portal. This ensures the agent delivers accurate, legally compliant security guidance and prevents misleading financial advice. </a:t>
            </a:r>
          </a:p>
          <a:p>
            <a:r>
              <a:rPr lang="en-IN" sz="1600" dirty="0"/>
              <a:t>The system consists of four key agents: </a:t>
            </a:r>
          </a:p>
          <a:p>
            <a:pPr lvl="0"/>
            <a:r>
              <a:rPr lang="en-IN" sz="1600" b="1" dirty="0"/>
              <a:t>UPI Sentinel Agent:</a:t>
            </a:r>
            <a:r>
              <a:rPr lang="en-IN" sz="1600" dirty="0"/>
              <a:t> Evaluates transaction requests, checks QR codes, and prevents fraud by strictly enforcing that a UPI PIN is never required to receive money. </a:t>
            </a:r>
          </a:p>
          <a:p>
            <a:pPr lvl="0"/>
            <a:r>
              <a:rPr lang="en-IN" sz="1600" b="1" dirty="0"/>
              <a:t>Cyber Fraud Triage Agent:</a:t>
            </a:r>
            <a:r>
              <a:rPr lang="en-IN" sz="1600" dirty="0"/>
              <a:t> Provides immediate incident support during unauthorized debits, guiding users through the critical Golden Hour protocol, bank freezes, and Helpline 1930 reporting. </a:t>
            </a:r>
          </a:p>
          <a:p>
            <a:pPr lvl="0"/>
            <a:r>
              <a:rPr lang="en-IN" sz="1600" b="1" dirty="0"/>
              <a:t>Safe Lending Advisory Agent:</a:t>
            </a:r>
            <a:r>
              <a:rPr lang="en-IN" sz="1600" dirty="0"/>
              <a:t> Assists users in verifying RBI-registered NBFCs against illegal loan apps and provides an automated calculator for transparent loan EMI analysis. </a:t>
            </a:r>
          </a:p>
          <a:p>
            <a:pPr lvl="0"/>
            <a:r>
              <a:rPr lang="en-IN" sz="1600" b="1" dirty="0"/>
              <a:t>Financial Literacy Agent:</a:t>
            </a:r>
            <a:r>
              <a:rPr lang="en-IN" sz="1600" dirty="0"/>
              <a:t> Educates users on foundational money management, including the 50/30/20 budgeting principle and maintaining a healthy CIBIL credit score. </a:t>
            </a:r>
          </a:p>
          <a:p>
            <a:r>
              <a:rPr lang="en-IN" sz="1600" dirty="0"/>
              <a:t>The solution includes a user-friendly dashboard (built with Python Flask, HTML5, and modern CSS) that visualizes threat telemetry, provides quick-action safety prompts, and includes an interactive loan calculator. </a:t>
            </a:r>
          </a:p>
          <a:p>
            <a:r>
              <a:rPr lang="en-IN" sz="1600" dirty="0"/>
              <a:t>IBM Bob is used to scaffold and orchestrate the agent workspace, while watsonx.ai ensures scalable model deployment, inference, and AI governance. IBM Granite models power the reasoning, intent classification, and advisory generation.</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340197"/>
          </a:xfrm>
          <a:prstGeom prst="rect">
            <a:avLst/>
          </a:prstGeom>
          <a:noFill/>
        </p:spPr>
        <p:txBody>
          <a:bodyPr wrap="square" rtlCol="0">
            <a:spAutoFit/>
          </a:bodyPr>
          <a:lstStyle/>
          <a:p>
            <a:pPr marL="285750" lvl="0" indent="-285750">
              <a:buFont typeface="Arial" panose="020B0604020202020204" pitchFamily="34" charset="0"/>
              <a:buChar char="•"/>
            </a:pPr>
            <a:r>
              <a:rPr lang="en-IN" sz="1800" b="1" dirty="0"/>
              <a:t>IBM Bob platform –</a:t>
            </a:r>
            <a:r>
              <a:rPr lang="en-IN" sz="1800" dirty="0"/>
              <a:t> Used for scaffolding, full-stack code generation, and structuring the modular agent architecture. </a:t>
            </a:r>
          </a:p>
          <a:p>
            <a:pPr lvl="0"/>
            <a:endParaRPr lang="en-IN" sz="1800" dirty="0"/>
          </a:p>
          <a:p>
            <a:pPr marL="285750" lvl="0" indent="-285750">
              <a:buFont typeface="Arial" panose="020B0604020202020204" pitchFamily="34" charset="0"/>
              <a:buChar char="•"/>
            </a:pPr>
            <a:r>
              <a:rPr lang="en-IN" sz="1800" b="1" dirty="0"/>
              <a:t>IBM Granite model (</a:t>
            </a:r>
            <a:r>
              <a:rPr lang="en-IN" sz="1800" b="1" dirty="0" err="1"/>
              <a:t>ibm</a:t>
            </a:r>
            <a:r>
              <a:rPr lang="en-IN" sz="1800" b="1" dirty="0"/>
              <a:t>/granite-3-8b-instruct) –</a:t>
            </a:r>
            <a:r>
              <a:rPr lang="en-IN" sz="1800" dirty="0"/>
              <a:t> Powers natural language understanding, intent classification, scam reasoning, and empathetic financial advisory responses. </a:t>
            </a:r>
          </a:p>
          <a:p>
            <a:pPr lvl="0"/>
            <a:endParaRPr lang="en-IN" sz="1800" dirty="0"/>
          </a:p>
          <a:p>
            <a:pPr marL="285750" lvl="0" indent="-285750">
              <a:buFont typeface="Arial" panose="020B0604020202020204" pitchFamily="34" charset="0"/>
              <a:buChar char="•"/>
            </a:pPr>
            <a:r>
              <a:rPr lang="en-IN" sz="1800" b="1" dirty="0"/>
              <a:t>IBM Cloud –</a:t>
            </a:r>
            <a:r>
              <a:rPr lang="en-IN" sz="1800" dirty="0"/>
              <a:t> Provides the cloud infrastructure, IAM OAuth authentication, and secure REST endpoints to run and scale the </a:t>
            </a:r>
            <a:r>
              <a:rPr lang="en-IN" sz="1800" dirty="0" err="1"/>
              <a:t>FinLit</a:t>
            </a:r>
            <a:r>
              <a:rPr lang="en-IN" sz="1800" dirty="0"/>
              <a:t> Agent reliably. </a:t>
            </a:r>
          </a:p>
          <a:p>
            <a:pPr lvl="0"/>
            <a:endParaRPr lang="en-IN" sz="1800" dirty="0"/>
          </a:p>
          <a:p>
            <a:pPr marL="285750" lvl="0" indent="-285750">
              <a:buFont typeface="Arial" panose="020B0604020202020204" pitchFamily="34" charset="0"/>
              <a:buChar char="•"/>
            </a:pPr>
            <a:r>
              <a:rPr lang="en-IN" sz="1800" b="1" dirty="0"/>
              <a:t>Retrieval-Augmented Generation (RAG) –</a:t>
            </a:r>
            <a:r>
              <a:rPr lang="en-IN" sz="1800" dirty="0"/>
              <a:t> Grounded in verified banking regulations and NPCI safety protocols before generating answers, preventing financial hallucinations and ensuring advice is legally sound. </a:t>
            </a:r>
          </a:p>
          <a:p>
            <a:pPr lvl="0"/>
            <a:endParaRPr lang="en-IN" sz="1800" dirty="0"/>
          </a:p>
          <a:p>
            <a:pPr marL="285750" lvl="0" indent="-285750">
              <a:buFont typeface="Arial" panose="020B0604020202020204" pitchFamily="34" charset="0"/>
              <a:buChar char="•"/>
            </a:pPr>
            <a:r>
              <a:rPr lang="en-IN" sz="1800" b="1" dirty="0"/>
              <a:t>IBM watsonx.ai –</a:t>
            </a:r>
            <a:r>
              <a:rPr lang="en-IN" sz="1800" dirty="0"/>
              <a:t> Manages foundation model inference, runtime parameters, token governance, and prompt optimization. </a:t>
            </a:r>
          </a:p>
          <a:p>
            <a:pPr lvl="0"/>
            <a:endParaRPr lang="en-IN" sz="1800" dirty="0"/>
          </a:p>
          <a:p>
            <a:pPr marL="285750" lvl="0" indent="-285750">
              <a:buFont typeface="Arial" panose="020B0604020202020204" pitchFamily="34" charset="0"/>
              <a:buChar char="•"/>
            </a:pPr>
            <a:r>
              <a:rPr lang="en-IN" sz="1800" b="1" dirty="0"/>
              <a:t>Domain Knowledge Base / Security Store –</a:t>
            </a:r>
            <a:r>
              <a:rPr lang="en-IN" sz="1800" dirty="0"/>
              <a:t> Stores official RBI guidelines, common fraud signatures (fake electricity bill APKs, fraudulent QR codes), and National Cyber Crime Helpline (1930) procedures for real-time retrieval.</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60E2036D-913D-D8FB-3B33-E1E70BD6869C}"/>
              </a:ext>
            </a:extLst>
          </p:cNvPr>
          <p:cNvPicPr>
            <a:picLocks noChangeAspect="1"/>
          </p:cNvPicPr>
          <p:nvPr/>
        </p:nvPicPr>
        <p:blipFill>
          <a:blip r:embed="rId3"/>
          <a:srcRect b="6128"/>
          <a:stretch>
            <a:fillRect/>
          </a:stretch>
        </p:blipFill>
        <p:spPr>
          <a:xfrm>
            <a:off x="2893218" y="1339273"/>
            <a:ext cx="9125383" cy="5353865"/>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306117" y="1531121"/>
            <a:ext cx="5973955" cy="422258"/>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946774" y="966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E29A877C-6315-8DB9-3B27-A5F4801DE4BE}"/>
              </a:ext>
            </a:extLst>
          </p:cNvPr>
          <p:cNvPicPr>
            <a:picLocks noChangeAspect="1"/>
          </p:cNvPicPr>
          <p:nvPr/>
        </p:nvPicPr>
        <p:blipFill>
          <a:blip r:embed="rId3"/>
          <a:srcRect b="6128"/>
          <a:stretch>
            <a:fillRect/>
          </a:stretch>
        </p:blipFill>
        <p:spPr>
          <a:xfrm>
            <a:off x="787327" y="858982"/>
            <a:ext cx="9936091" cy="582950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3A19A7-C8F3-F34E-2659-1FADA950BD91}"/>
              </a:ext>
            </a:extLst>
          </p:cNvPr>
          <p:cNvPicPr>
            <a:picLocks noChangeAspect="1"/>
          </p:cNvPicPr>
          <p:nvPr/>
        </p:nvPicPr>
        <p:blipFill>
          <a:blip r:embed="rId2"/>
          <a:srcRect b="6121"/>
          <a:stretch>
            <a:fillRect/>
          </a:stretch>
        </p:blipFill>
        <p:spPr>
          <a:xfrm>
            <a:off x="803563" y="274205"/>
            <a:ext cx="10536111" cy="6182013"/>
          </a:xfrm>
          <a:prstGeom prst="rect">
            <a:avLst/>
          </a:prstGeom>
          <a:solidFill>
            <a:srgbClr val="0D1017"/>
          </a:solidFill>
          <a:ln>
            <a:solidFill>
              <a:srgbClr val="0D1017"/>
            </a:solidFill>
          </a:ln>
        </p:spPr>
      </p:pic>
      <p:sp>
        <p:nvSpPr>
          <p:cNvPr id="4" name="Rectangle 3">
            <a:extLst>
              <a:ext uri="{FF2B5EF4-FFF2-40B4-BE49-F238E27FC236}">
                <a16:creationId xmlns:a16="http://schemas.microsoft.com/office/drawing/2014/main" id="{52D445BD-708A-B759-A1F5-2ACC0D6F215F}"/>
              </a:ext>
            </a:extLst>
          </p:cNvPr>
          <p:cNvSpPr/>
          <p:nvPr/>
        </p:nvSpPr>
        <p:spPr>
          <a:xfrm>
            <a:off x="8543636" y="4655127"/>
            <a:ext cx="3001819" cy="79432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D4A8F41B-3660-4324-8310-7ADE79BCBF32}"/>
              </a:ext>
            </a:extLst>
          </p:cNvPr>
          <p:cNvSpPr/>
          <p:nvPr/>
        </p:nvSpPr>
        <p:spPr>
          <a:xfrm>
            <a:off x="8543636" y="4655127"/>
            <a:ext cx="2937164" cy="794328"/>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p>
        </p:txBody>
      </p:sp>
      <p:sp>
        <p:nvSpPr>
          <p:cNvPr id="7" name="Rectangle 6">
            <a:extLst>
              <a:ext uri="{FF2B5EF4-FFF2-40B4-BE49-F238E27FC236}">
                <a16:creationId xmlns:a16="http://schemas.microsoft.com/office/drawing/2014/main" id="{9A17D653-0FCC-B785-44F1-75232A46809D}"/>
              </a:ext>
            </a:extLst>
          </p:cNvPr>
          <p:cNvSpPr/>
          <p:nvPr/>
        </p:nvSpPr>
        <p:spPr>
          <a:xfrm>
            <a:off x="8337855" y="4719782"/>
            <a:ext cx="3001819" cy="729673"/>
          </a:xfrm>
          <a:prstGeom prst="rect">
            <a:avLst/>
          </a:prstGeom>
          <a:solidFill>
            <a:srgbClr val="0D101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n>
                <a:solidFill>
                  <a:sysClr val="windowText" lastClr="000000"/>
                </a:solidFill>
              </a:ln>
              <a:solidFill>
                <a:sysClr val="windowText" lastClr="000000"/>
              </a:solidFill>
            </a:endParaRPr>
          </a:p>
        </p:txBody>
      </p:sp>
      <p:sp>
        <p:nvSpPr>
          <p:cNvPr id="9" name="Rectangle 8">
            <a:extLst>
              <a:ext uri="{FF2B5EF4-FFF2-40B4-BE49-F238E27FC236}">
                <a16:creationId xmlns:a16="http://schemas.microsoft.com/office/drawing/2014/main" id="{B43F9E4C-783E-D7A0-DA2C-FE311EF624FE}"/>
              </a:ext>
            </a:extLst>
          </p:cNvPr>
          <p:cNvSpPr/>
          <p:nvPr/>
        </p:nvSpPr>
        <p:spPr>
          <a:xfrm>
            <a:off x="4368801" y="2105892"/>
            <a:ext cx="3186545" cy="157018"/>
          </a:xfrm>
          <a:prstGeom prst="rect">
            <a:avLst/>
          </a:prstGeom>
          <a:solidFill>
            <a:srgbClr val="F25448">
              <a:alpha val="49804"/>
            </a:srgbClr>
          </a:solidFill>
          <a:ln w="28575">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400B1EC2-4AE6-ED6F-1969-C2747D20A415}"/>
              </a:ext>
            </a:extLst>
          </p:cNvPr>
          <p:cNvSpPr/>
          <p:nvPr/>
        </p:nvSpPr>
        <p:spPr>
          <a:xfrm>
            <a:off x="4170219" y="2369128"/>
            <a:ext cx="3186545" cy="157018"/>
          </a:xfrm>
          <a:prstGeom prst="rect">
            <a:avLst/>
          </a:prstGeom>
          <a:solidFill>
            <a:srgbClr val="F25448">
              <a:alpha val="49804"/>
            </a:srgbClr>
          </a:solidFill>
          <a:ln w="28575">
            <a:solidFill>
              <a:srgbClr val="C0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F23A-7370-3301-E162-DAEF3A5E2885}"/>
              </a:ext>
            </a:extLst>
          </p:cNvPr>
          <p:cNvSpPr>
            <a:spLocks noGrp="1"/>
          </p:cNvSpPr>
          <p:nvPr>
            <p:ph type="title"/>
          </p:nvPr>
        </p:nvSpPr>
        <p:spPr/>
        <p:txBody>
          <a:bodyPr/>
          <a:lstStyle/>
          <a:p>
            <a:endParaRPr lang="en-IN" dirty="0"/>
          </a:p>
        </p:txBody>
      </p:sp>
      <p:pic>
        <p:nvPicPr>
          <p:cNvPr id="5" name="Picture 4">
            <a:extLst>
              <a:ext uri="{FF2B5EF4-FFF2-40B4-BE49-F238E27FC236}">
                <a16:creationId xmlns:a16="http://schemas.microsoft.com/office/drawing/2014/main" id="{26F7DD2E-5E09-1F7A-9CB8-7BCE60E7334B}"/>
              </a:ext>
            </a:extLst>
          </p:cNvPr>
          <p:cNvPicPr>
            <a:picLocks noChangeAspect="1"/>
          </p:cNvPicPr>
          <p:nvPr/>
        </p:nvPicPr>
        <p:blipFill>
          <a:blip r:embed="rId2"/>
          <a:srcRect b="6263"/>
          <a:stretch>
            <a:fillRect/>
          </a:stretch>
        </p:blipFill>
        <p:spPr>
          <a:xfrm>
            <a:off x="704850" y="274269"/>
            <a:ext cx="10515600" cy="6160654"/>
          </a:xfrm>
          <a:prstGeom prst="rect">
            <a:avLst/>
          </a:prstGeom>
        </p:spPr>
      </p:pic>
      <p:sp>
        <p:nvSpPr>
          <p:cNvPr id="9" name="Rectangle 8">
            <a:extLst>
              <a:ext uri="{FF2B5EF4-FFF2-40B4-BE49-F238E27FC236}">
                <a16:creationId xmlns:a16="http://schemas.microsoft.com/office/drawing/2014/main" id="{E51EE836-D564-A8F9-279C-A6C188BD0F8F}"/>
              </a:ext>
            </a:extLst>
          </p:cNvPr>
          <p:cNvSpPr/>
          <p:nvPr/>
        </p:nvSpPr>
        <p:spPr>
          <a:xfrm>
            <a:off x="9264074" y="4652561"/>
            <a:ext cx="1847272" cy="846138"/>
          </a:xfrm>
          <a:prstGeom prst="rect">
            <a:avLst/>
          </a:prstGeom>
          <a:solidFill>
            <a:srgbClr val="0D101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ln>
                <a:solidFill>
                  <a:sysClr val="windowText" lastClr="000000"/>
                </a:solidFill>
              </a:ln>
              <a:solidFill>
                <a:sysClr val="windowText" lastClr="000000"/>
              </a:solidFill>
            </a:endParaRPr>
          </a:p>
        </p:txBody>
      </p:sp>
    </p:spTree>
    <p:extLst>
      <p:ext uri="{BB962C8B-B14F-4D97-AF65-F5344CB8AC3E}">
        <p14:creationId xmlns:p14="http://schemas.microsoft.com/office/powerpoint/2010/main" val="156736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2208C471-F444-D314-10B6-5BE5D6419F3E}"/>
              </a:ext>
            </a:extLst>
          </p:cNvPr>
          <p:cNvPicPr>
            <a:picLocks noChangeAspect="1"/>
          </p:cNvPicPr>
          <p:nvPr/>
        </p:nvPicPr>
        <p:blipFill>
          <a:blip r:embed="rId3"/>
          <a:stretch>
            <a:fillRect/>
          </a:stretch>
        </p:blipFill>
        <p:spPr>
          <a:xfrm>
            <a:off x="183703" y="771747"/>
            <a:ext cx="11824593" cy="587843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8217408" cy="5632311"/>
          </a:xfrm>
          <a:prstGeom prst="rect">
            <a:avLst/>
          </a:prstGeom>
          <a:noFill/>
        </p:spPr>
        <p:txBody>
          <a:bodyPr wrap="square" rtlCol="0">
            <a:spAutoFit/>
          </a:bodyPr>
          <a:lstStyle/>
          <a:p>
            <a:r>
              <a:rPr lang="en-IN" sz="2400" b="1" dirty="0"/>
              <a:t>Role of Agentic AI in </a:t>
            </a:r>
            <a:r>
              <a:rPr lang="en-IN" sz="2400" b="1" dirty="0" err="1"/>
              <a:t>FinLitBot</a:t>
            </a:r>
            <a:endParaRPr lang="en-IN" sz="2400" b="1" dirty="0"/>
          </a:p>
          <a:p>
            <a:r>
              <a:rPr lang="en-IN" sz="1600" dirty="0"/>
              <a:t>Agentic AI transforms </a:t>
            </a:r>
            <a:r>
              <a:rPr lang="en-IN" sz="1600" dirty="0" err="1"/>
              <a:t>FinLitBot</a:t>
            </a:r>
            <a:r>
              <a:rPr lang="en-IN" sz="1600" dirty="0"/>
              <a:t> from a passive informational chatbot into an active, autonomous financial protection copilot. Powered by IBM watsonx.ai and IBM Granite models, the system dynamically interprets user intent, evaluates transaction risk, and coordinates specialized safety workflows in real time. </a:t>
            </a:r>
          </a:p>
          <a:p>
            <a:pPr lvl="0"/>
            <a:r>
              <a:rPr lang="en-IN" sz="1600" b="1" dirty="0"/>
              <a:t>Autonomous Incident Triage:</a:t>
            </a:r>
            <a:r>
              <a:rPr lang="en-IN" sz="1600" dirty="0"/>
              <a:t> The system intelligently distinguishes between routine financial inquiries (such as CIBIL scores or budgeting) and active cyber fraud emergencies. Upon identifying an unauthorized money transfer, it bypasses generic advice to immediately initiate emergency triage—walking the victim through bank account freezes and National Cyber Crime Helpline (1930) reporting within the critical Golden Hour. </a:t>
            </a:r>
          </a:p>
          <a:p>
            <a:pPr lvl="0"/>
            <a:r>
              <a:rPr lang="en-IN" sz="1600" b="1" dirty="0"/>
              <a:t>Multi-Agent Collaboration:</a:t>
            </a:r>
            <a:r>
              <a:rPr lang="en-IN" sz="1600" dirty="0"/>
              <a:t> Specialized agents collaborate seamlessly—the </a:t>
            </a:r>
            <a:r>
              <a:rPr lang="en-IN" sz="1600" i="1" dirty="0"/>
              <a:t>UPI Sentinel Agent</a:t>
            </a:r>
            <a:r>
              <a:rPr lang="en-IN" sz="1600" dirty="0"/>
              <a:t> verifies collect requests and QR codes, the </a:t>
            </a:r>
            <a:r>
              <a:rPr lang="en-IN" sz="1600" i="1" dirty="0"/>
              <a:t>Lending Advisory Agent</a:t>
            </a:r>
            <a:r>
              <a:rPr lang="en-IN" sz="1600" dirty="0"/>
              <a:t> computes transparent loan EMIs and checks RBI-registered lenders, and the </a:t>
            </a:r>
            <a:r>
              <a:rPr lang="en-IN" sz="1600" i="1" dirty="0"/>
              <a:t>Fraud Response Agent</a:t>
            </a:r>
            <a:r>
              <a:rPr lang="en-IN" sz="1600" dirty="0"/>
              <a:t> provides structured incident reporting steps. </a:t>
            </a:r>
          </a:p>
          <a:p>
            <a:pPr lvl="0"/>
            <a:r>
              <a:rPr lang="en-IN" sz="1600" b="1" dirty="0"/>
              <a:t>Context-Aware Threat Interception:</a:t>
            </a:r>
            <a:r>
              <a:rPr lang="en-IN" sz="1600" dirty="0"/>
              <a:t> Rather than reciting static FAQs, the agent </a:t>
            </a:r>
            <a:r>
              <a:rPr lang="en-IN" sz="1600" dirty="0" err="1"/>
              <a:t>analyzes</a:t>
            </a:r>
            <a:r>
              <a:rPr lang="en-IN" sz="1600" dirty="0"/>
              <a:t> the user's specific context to intercept fraud before money is lost—flagging malicious electricity bill APK downloads and enforcing the golden rule that a UPI PIN is never entered to receive funds. </a:t>
            </a:r>
          </a:p>
          <a:p>
            <a:pPr lvl="0"/>
            <a:r>
              <a:rPr lang="en-IN" sz="1600" b="1" dirty="0"/>
              <a:t>Grounded Regulatory Compliance:</a:t>
            </a:r>
            <a:r>
              <a:rPr lang="en-IN" sz="1600" dirty="0"/>
              <a:t> By coupling Granite's reasoning capabilities with a domain RAG knowledge base, the agent guarantees that all guidance strictly aligns with Reserve Bank of India (RBI) and NPCI consumer security standards. </a:t>
            </a:r>
          </a:p>
        </p:txBody>
      </p:sp>
      <p:pic>
        <p:nvPicPr>
          <p:cNvPr id="5" name="Picture 4">
            <a:extLst>
              <a:ext uri="{FF2B5EF4-FFF2-40B4-BE49-F238E27FC236}">
                <a16:creationId xmlns:a16="http://schemas.microsoft.com/office/drawing/2014/main" id="{3E06F59B-E8C4-20E1-9582-DBB81D170DB5}"/>
              </a:ext>
            </a:extLst>
          </p:cNvPr>
          <p:cNvPicPr>
            <a:picLocks noChangeAspect="1"/>
          </p:cNvPicPr>
          <p:nvPr/>
        </p:nvPicPr>
        <p:blipFill>
          <a:blip r:embed="rId3"/>
          <a:srcRect l="68434" t="43939" r="3142" b="10842"/>
          <a:stretch>
            <a:fillRect/>
          </a:stretch>
        </p:blipFill>
        <p:spPr>
          <a:xfrm>
            <a:off x="8839200" y="1276928"/>
            <a:ext cx="3118936" cy="4948381"/>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t>8,600 </a:t>
            </a:r>
            <a:r>
              <a:rPr lang="en-US" dirty="0"/>
              <a:t>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17898B93-3962-8C94-BB69-FA61C8CE7F2D}"/>
              </a:ext>
            </a:extLst>
          </p:cNvPr>
          <p:cNvPicPr>
            <a:picLocks noChangeAspect="1"/>
          </p:cNvPicPr>
          <p:nvPr/>
        </p:nvPicPr>
        <p:blipFill>
          <a:blip r:embed="rId3"/>
          <a:srcRect t="16957" b="6020"/>
          <a:stretch>
            <a:fillRect/>
          </a:stretch>
        </p:blipFill>
        <p:spPr>
          <a:xfrm>
            <a:off x="390920" y="2241740"/>
            <a:ext cx="5384113" cy="3571997"/>
          </a:xfrm>
          <a:prstGeom prst="rect">
            <a:avLst/>
          </a:prstGeom>
        </p:spPr>
      </p:pic>
      <p:pic>
        <p:nvPicPr>
          <p:cNvPr id="6" name="Picture 5">
            <a:extLst>
              <a:ext uri="{FF2B5EF4-FFF2-40B4-BE49-F238E27FC236}">
                <a16:creationId xmlns:a16="http://schemas.microsoft.com/office/drawing/2014/main" id="{69EC0469-1D87-7B9F-14C5-61B2D84578D3}"/>
              </a:ext>
            </a:extLst>
          </p:cNvPr>
          <p:cNvPicPr>
            <a:picLocks noChangeAspect="1"/>
          </p:cNvPicPr>
          <p:nvPr/>
        </p:nvPicPr>
        <p:blipFill>
          <a:blip r:embed="rId4"/>
          <a:srcRect t="12685" b="42654"/>
          <a:stretch>
            <a:fillRect/>
          </a:stretch>
        </p:blipFill>
        <p:spPr>
          <a:xfrm>
            <a:off x="6525087" y="2265765"/>
            <a:ext cx="5474569" cy="3547971"/>
          </a:xfrm>
          <a:prstGeom prst="rect">
            <a:avLst/>
          </a:prstGeom>
        </p:spPr>
      </p:pic>
      <p:cxnSp>
        <p:nvCxnSpPr>
          <p:cNvPr id="8" name="Straight Arrow Connector 7">
            <a:extLst>
              <a:ext uri="{FF2B5EF4-FFF2-40B4-BE49-F238E27FC236}">
                <a16:creationId xmlns:a16="http://schemas.microsoft.com/office/drawing/2014/main" id="{D144689D-3A57-4F65-9203-0F2969FAF006}"/>
              </a:ext>
            </a:extLst>
          </p:cNvPr>
          <p:cNvCxnSpPr/>
          <p:nvPr/>
        </p:nvCxnSpPr>
        <p:spPr>
          <a:xfrm>
            <a:off x="8013357" y="4027738"/>
            <a:ext cx="1037968" cy="51280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18C4BC5-EABF-5C72-EB09-E6701E6D0642}"/>
              </a:ext>
            </a:extLst>
          </p:cNvPr>
          <p:cNvCxnSpPr>
            <a:cxnSpLocks/>
          </p:cNvCxnSpPr>
          <p:nvPr/>
        </p:nvCxnSpPr>
        <p:spPr>
          <a:xfrm flipV="1">
            <a:off x="11654115" y="5161512"/>
            <a:ext cx="0" cy="121457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88D80AD2-AE76-B494-BDA7-D48F4BE7EFDD}"/>
              </a:ext>
            </a:extLst>
          </p:cNvPr>
          <p:cNvPicPr>
            <a:picLocks noChangeAspect="1"/>
          </p:cNvPicPr>
          <p:nvPr/>
        </p:nvPicPr>
        <p:blipFill>
          <a:blip r:embed="rId3"/>
          <a:srcRect t="4904" b="5900"/>
          <a:stretch>
            <a:fillRect/>
          </a:stretch>
        </p:blipFill>
        <p:spPr>
          <a:xfrm>
            <a:off x="905448" y="936977"/>
            <a:ext cx="10067828" cy="561252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126E044C-4692-69D6-E532-A223FEE24654}"/>
              </a:ext>
            </a:extLst>
          </p:cNvPr>
          <p:cNvPicPr>
            <a:picLocks noChangeAspect="1"/>
          </p:cNvPicPr>
          <p:nvPr/>
        </p:nvPicPr>
        <p:blipFill>
          <a:blip r:embed="rId3"/>
          <a:srcRect t="4904" b="6207"/>
          <a:stretch>
            <a:fillRect/>
          </a:stretch>
        </p:blipFill>
        <p:spPr>
          <a:xfrm>
            <a:off x="840828" y="684632"/>
            <a:ext cx="9879724" cy="5488736"/>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635ECFC3-C6D0-6925-5803-A2ED3A0D089A}"/>
              </a:ext>
            </a:extLst>
          </p:cNvPr>
          <p:cNvPicPr>
            <a:picLocks noChangeAspect="1"/>
          </p:cNvPicPr>
          <p:nvPr/>
        </p:nvPicPr>
        <p:blipFill>
          <a:blip r:embed="rId3"/>
          <a:srcRect t="5211" b="5747"/>
          <a:stretch>
            <a:fillRect/>
          </a:stretch>
        </p:blipFill>
        <p:spPr>
          <a:xfrm>
            <a:off x="914400" y="770634"/>
            <a:ext cx="10324603" cy="574578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B448B4A4-F07E-95E1-0992-D9CA90BDFB1C}"/>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F9E626E-32C4-2F6F-4FE7-6E366C57973A}"/>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2D23FE01-5C34-199C-E0CD-951C1C9F569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25A25320-2130-3C06-9975-F251DBB856E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F7085E1-538A-05AF-341D-25E02AFB3BD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5A745FDF-6ECF-54B2-09EC-D554C30BCF9B}"/>
              </a:ext>
            </a:extLst>
          </p:cNvPr>
          <p:cNvPicPr>
            <a:picLocks noChangeAspect="1"/>
          </p:cNvPicPr>
          <p:nvPr/>
        </p:nvPicPr>
        <p:blipFill>
          <a:blip r:embed="rId3"/>
          <a:srcRect t="5057" b="6207"/>
          <a:stretch>
            <a:fillRect/>
          </a:stretch>
        </p:blipFill>
        <p:spPr>
          <a:xfrm>
            <a:off x="756745" y="816977"/>
            <a:ext cx="10366359" cy="5749160"/>
          </a:xfrm>
          <a:prstGeom prst="rect">
            <a:avLst/>
          </a:prstGeom>
        </p:spPr>
      </p:pic>
    </p:spTree>
    <p:extLst>
      <p:ext uri="{BB962C8B-B14F-4D97-AF65-F5344CB8AC3E}">
        <p14:creationId xmlns:p14="http://schemas.microsoft.com/office/powerpoint/2010/main" val="2734960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2F636E3-EF7F-374E-BA3C-5EA0C5F3F4C1}"/>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47A05D5-BD03-C9C1-150A-BF52D5F61843}"/>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78A462-D713-DCA1-BC58-36A7E300AD7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C9666F8-1B8A-FAD6-9716-C5942A7632D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810519A-24F9-386C-C686-CBC368456B2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E0149FA-AA59-2E0A-29E6-86FEEC11D644}"/>
              </a:ext>
            </a:extLst>
          </p:cNvPr>
          <p:cNvPicPr>
            <a:picLocks noChangeAspect="1"/>
          </p:cNvPicPr>
          <p:nvPr/>
        </p:nvPicPr>
        <p:blipFill>
          <a:blip r:embed="rId3"/>
          <a:srcRect t="5671" b="6361"/>
          <a:stretch>
            <a:fillRect/>
          </a:stretch>
        </p:blipFill>
        <p:spPr>
          <a:xfrm>
            <a:off x="672662" y="704192"/>
            <a:ext cx="10456657" cy="5749159"/>
          </a:xfrm>
          <a:prstGeom prst="rect">
            <a:avLst/>
          </a:prstGeom>
        </p:spPr>
      </p:pic>
    </p:spTree>
    <p:extLst>
      <p:ext uri="{BB962C8B-B14F-4D97-AF65-F5344CB8AC3E}">
        <p14:creationId xmlns:p14="http://schemas.microsoft.com/office/powerpoint/2010/main" val="3729709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3125B03-9769-B11E-10F3-18052728A1D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32A08B3-6699-D648-B732-2D572AD0913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50ECE305-5317-598B-E57C-F1E9F66DEB20}"/>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D7E0EEC-B3B1-E44E-EA24-C31E03D07B5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2BC777D0-3A4F-5EDC-1D7B-1E33F4C6CE4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97203DA-655B-EDF4-480A-9A6D4B42B43A}"/>
              </a:ext>
            </a:extLst>
          </p:cNvPr>
          <p:cNvPicPr>
            <a:picLocks noChangeAspect="1"/>
          </p:cNvPicPr>
          <p:nvPr/>
        </p:nvPicPr>
        <p:blipFill>
          <a:blip r:embed="rId3"/>
          <a:srcRect t="5211" b="6360"/>
          <a:stretch>
            <a:fillRect/>
          </a:stretch>
        </p:blipFill>
        <p:spPr>
          <a:xfrm>
            <a:off x="683173" y="816977"/>
            <a:ext cx="10174014" cy="5622994"/>
          </a:xfrm>
          <a:prstGeom prst="rect">
            <a:avLst/>
          </a:prstGeom>
        </p:spPr>
      </p:pic>
    </p:spTree>
    <p:extLst>
      <p:ext uri="{BB962C8B-B14F-4D97-AF65-F5344CB8AC3E}">
        <p14:creationId xmlns:p14="http://schemas.microsoft.com/office/powerpoint/2010/main" val="3089027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9BBA99A-49CF-EED6-1451-3FA9F09333F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1B42DD8-5773-C172-3DB8-098935546C86}"/>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77CC7CBE-58C5-71C0-B2BE-C8ED321C28A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A6F918E-57F0-E657-7DD9-0D4F52EC959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FC0B02D-0EAC-4CB2-5786-A93942BCB5BD}"/>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851E37D-9663-8856-25A9-82BDA0EFEB27}"/>
              </a:ext>
            </a:extLst>
          </p:cNvPr>
          <p:cNvPicPr>
            <a:picLocks noChangeAspect="1"/>
          </p:cNvPicPr>
          <p:nvPr/>
        </p:nvPicPr>
        <p:blipFill>
          <a:blip r:embed="rId3"/>
          <a:srcRect t="4904" b="6514"/>
          <a:stretch>
            <a:fillRect/>
          </a:stretch>
        </p:blipFill>
        <p:spPr>
          <a:xfrm>
            <a:off x="872358" y="816977"/>
            <a:ext cx="10216055" cy="5656015"/>
          </a:xfrm>
          <a:prstGeom prst="rect">
            <a:avLst/>
          </a:prstGeom>
        </p:spPr>
      </p:pic>
    </p:spTree>
    <p:extLst>
      <p:ext uri="{BB962C8B-B14F-4D97-AF65-F5344CB8AC3E}">
        <p14:creationId xmlns:p14="http://schemas.microsoft.com/office/powerpoint/2010/main" val="3847524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7B6C5FC-5C6E-3634-3E01-2FA71FE7A27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C39FACD-BC64-6EBA-89AF-A6796194EEF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09F06A70-532A-ADA6-BA1D-EDB0229026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C976C72-44D3-2ED0-A4C3-341D17711C7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587FAF55-82AB-E385-B28C-A18F5578AD6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241C55FD-430B-1F71-F1A0-91A52DB31A06}"/>
              </a:ext>
            </a:extLst>
          </p:cNvPr>
          <p:cNvPicPr>
            <a:picLocks noChangeAspect="1"/>
          </p:cNvPicPr>
          <p:nvPr/>
        </p:nvPicPr>
        <p:blipFill>
          <a:blip r:embed="rId3"/>
          <a:srcRect t="6130" b="6207"/>
          <a:stretch>
            <a:fillRect/>
          </a:stretch>
        </p:blipFill>
        <p:spPr>
          <a:xfrm>
            <a:off x="350288" y="1304627"/>
            <a:ext cx="5871836" cy="4812394"/>
          </a:xfrm>
          <a:prstGeom prst="rect">
            <a:avLst/>
          </a:prstGeom>
        </p:spPr>
      </p:pic>
      <p:pic>
        <p:nvPicPr>
          <p:cNvPr id="6" name="Picture 5">
            <a:extLst>
              <a:ext uri="{FF2B5EF4-FFF2-40B4-BE49-F238E27FC236}">
                <a16:creationId xmlns:a16="http://schemas.microsoft.com/office/drawing/2014/main" id="{43C4F185-0122-8F40-1A65-18CD45AC9543}"/>
              </a:ext>
            </a:extLst>
          </p:cNvPr>
          <p:cNvPicPr>
            <a:picLocks noChangeAspect="1"/>
          </p:cNvPicPr>
          <p:nvPr/>
        </p:nvPicPr>
        <p:blipFill>
          <a:blip r:embed="rId4"/>
          <a:srcRect t="5977" b="10038"/>
          <a:stretch>
            <a:fillRect/>
          </a:stretch>
        </p:blipFill>
        <p:spPr>
          <a:xfrm>
            <a:off x="6547946" y="1172379"/>
            <a:ext cx="5496810" cy="4944641"/>
          </a:xfrm>
          <a:prstGeom prst="rect">
            <a:avLst/>
          </a:prstGeom>
        </p:spPr>
      </p:pic>
    </p:spTree>
    <p:extLst>
      <p:ext uri="{BB962C8B-B14F-4D97-AF65-F5344CB8AC3E}">
        <p14:creationId xmlns:p14="http://schemas.microsoft.com/office/powerpoint/2010/main" val="1306345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67033" y="15881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67033" y="725579"/>
            <a:ext cx="11301984" cy="6247864"/>
          </a:xfrm>
          <a:prstGeom prst="rect">
            <a:avLst/>
          </a:prstGeom>
          <a:noFill/>
        </p:spPr>
        <p:txBody>
          <a:bodyPr wrap="square" rtlCol="0">
            <a:spAutoFit/>
          </a:bodyPr>
          <a:lstStyle/>
          <a:p>
            <a:r>
              <a:rPr lang="en-IN" sz="2000" dirty="0"/>
              <a:t>The proposed </a:t>
            </a:r>
            <a:r>
              <a:rPr lang="en-IN" sz="2000" b="1" dirty="0" err="1"/>
              <a:t>FinLitBot</a:t>
            </a:r>
            <a:r>
              <a:rPr lang="en-IN" sz="2000" dirty="0"/>
              <a:t> stands out by combining </a:t>
            </a:r>
            <a:r>
              <a:rPr lang="en-IN" sz="2000" b="1" dirty="0"/>
              <a:t>Agentic AI, RAG, and Real-Time Threat Interception</a:t>
            </a:r>
            <a:r>
              <a:rPr lang="en-IN" sz="2000" dirty="0"/>
              <a:t> into a proactive financial </a:t>
            </a:r>
            <a:r>
              <a:rPr lang="en-IN" sz="2000" dirty="0" err="1"/>
              <a:t>defense</a:t>
            </a:r>
            <a:r>
              <a:rPr lang="en-IN" sz="2000" dirty="0"/>
              <a:t> and literacy system.</a:t>
            </a:r>
          </a:p>
          <a:p>
            <a:pPr lvl="0"/>
            <a:r>
              <a:rPr lang="en-IN" sz="2000" b="1" dirty="0"/>
              <a:t>Autonomous Incident Triage</a:t>
            </a:r>
            <a:r>
              <a:rPr lang="en-IN" sz="2000" dirty="0"/>
              <a:t> – Unlike static banking FAQ bots, </a:t>
            </a:r>
            <a:r>
              <a:rPr lang="en-IN" sz="2000" dirty="0" err="1"/>
              <a:t>FinLitBot</a:t>
            </a:r>
            <a:r>
              <a:rPr lang="en-IN" sz="2000" dirty="0"/>
              <a:t> initiates autonomous triage during the critical "Golden Hour" of cyber fraud, providing immediate escalation workflows for the National Cyber Crime Helpline (1930).</a:t>
            </a:r>
          </a:p>
          <a:p>
            <a:pPr lvl="0"/>
            <a:r>
              <a:rPr lang="en-IN" sz="2000" b="1" dirty="0"/>
              <a:t>Context-Aware Threat Interception</a:t>
            </a:r>
            <a:r>
              <a:rPr lang="en-IN" sz="2000" dirty="0"/>
              <a:t> – Proactively detects social engineering cues (e.g., fake electricity bill SMS, QR code debit requests, remote access APKs) and intervenes to prevent credential/PIN leakage before a transaction occurs.</a:t>
            </a:r>
          </a:p>
          <a:p>
            <a:pPr lvl="0"/>
            <a:r>
              <a:rPr lang="en-IN" sz="2000" b="1" dirty="0"/>
              <a:t>RAG-Grounded Regulatory Accuracy</a:t>
            </a:r>
            <a:r>
              <a:rPr lang="en-IN" sz="2000" dirty="0"/>
              <a:t> – Uses Retrieval-Augmented Generation anchored to official RBI guidelines, NPCI standards, and cybercrime reporting protocols, eliminating hallucinations and ensuring legally sound guidance.</a:t>
            </a:r>
          </a:p>
          <a:p>
            <a:pPr lvl="0"/>
            <a:r>
              <a:rPr lang="en-IN" sz="2000" b="1" dirty="0"/>
              <a:t>Bi-Directional Security Guardrails</a:t>
            </a:r>
            <a:r>
              <a:rPr lang="en-IN" sz="2000" dirty="0"/>
              <a:t> – Intercepts sensitive personal identifiable information (PII) and account credentials at the input layer before queries reach the model API, maintaining complete data privacy.</a:t>
            </a:r>
          </a:p>
          <a:p>
            <a:pPr lvl="0"/>
            <a:r>
              <a:rPr lang="en-IN" sz="2000" b="1" dirty="0"/>
              <a:t>Automated Dispute Resolution</a:t>
            </a:r>
            <a:r>
              <a:rPr lang="en-IN" sz="2000" dirty="0"/>
              <a:t> – Bridges guidance into action by structuring incident details for formal FIR registration on cybercrime.gov.in and lodging complaints under the RBI Integrated Ombudsman Scheme.</a:t>
            </a:r>
          </a:p>
          <a:p>
            <a:pPr lvl="0"/>
            <a:r>
              <a:rPr lang="en-IN" sz="2000" b="1" dirty="0"/>
              <a:t>Enterprise-Ready &amp; Scalable</a:t>
            </a:r>
            <a:r>
              <a:rPr lang="en-IN" sz="2000" dirty="0"/>
              <a:t> – Built natively on </a:t>
            </a:r>
            <a:r>
              <a:rPr lang="en-IN" sz="2000" b="1" dirty="0"/>
              <a:t>IBM watsonx.ai</a:t>
            </a:r>
            <a:r>
              <a:rPr lang="en-IN" sz="2000" dirty="0"/>
              <a:t> utilizing </a:t>
            </a:r>
            <a:r>
              <a:rPr lang="en-IN" sz="2000" b="1" dirty="0"/>
              <a:t>IBM Granite</a:t>
            </a:r>
            <a:r>
              <a:rPr lang="en-IN" sz="2000" dirty="0"/>
              <a:t> (</a:t>
            </a:r>
            <a:r>
              <a:rPr lang="en-IN" sz="2000" dirty="0" err="1"/>
              <a:t>ibm</a:t>
            </a:r>
            <a:r>
              <a:rPr lang="en-IN" sz="2000" dirty="0"/>
              <a:t>/granite-3-8b-instruct) for enterprise governance, verifiable token metrics, and compliant audit trails.</a:t>
            </a:r>
          </a:p>
        </p:txBody>
      </p:sp>
    </p:spTree>
    <p:extLst>
      <p:ext uri="{BB962C8B-B14F-4D97-AF65-F5344CB8AC3E}">
        <p14:creationId xmlns:p14="http://schemas.microsoft.com/office/powerpoint/2010/main" val="2325282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567559" y="44969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567559" y="1153712"/>
            <a:ext cx="11277599" cy="5704288"/>
          </a:xfrm>
          <a:prstGeom prst="rect">
            <a:avLst/>
          </a:prstGeom>
          <a:noFill/>
          <a:ln>
            <a:noFill/>
          </a:ln>
        </p:spPr>
        <p:txBody>
          <a:bodyPr spcFirstLastPara="1" wrap="square" lIns="0" tIns="0" rIns="0" bIns="0" anchor="t" anchorCtr="0">
            <a:noAutofit/>
          </a:bodyPr>
          <a:lstStyle/>
          <a:p>
            <a:r>
              <a:rPr lang="en-IN" sz="1600" b="1" dirty="0"/>
              <a:t>Public Repository URL:</a:t>
            </a:r>
          </a:p>
          <a:p>
            <a:r>
              <a:rPr lang="en-IN" sz="1600" b="1" dirty="0"/>
              <a:t>[https://github.com/Nayana-vm/FinLitBot-IBM-watsonx](https://github.com/Nayana-vm/FinLitBot-IBM-watsonx)</a:t>
            </a:r>
            <a:endParaRPr lang="en-IN" sz="1600" dirty="0"/>
          </a:p>
          <a:p>
            <a:r>
              <a:rPr lang="en-IN" sz="1600" i="1" dirty="0"/>
              <a:t>(Public repository verified — accessible without login credentials)</a:t>
            </a:r>
            <a:endParaRPr lang="en-IN" sz="1600" dirty="0"/>
          </a:p>
          <a:p>
            <a:r>
              <a:rPr lang="en-IN" sz="1600" b="1" dirty="0"/>
              <a:t>Uploaded Deliverables &amp; Repository Structure:</a:t>
            </a:r>
          </a:p>
          <a:p>
            <a:pPr lvl="0"/>
            <a:r>
              <a:rPr lang="en-IN" sz="1600" b="1" dirty="0"/>
              <a:t>IBM Cloud &amp; Agent Core Files:</a:t>
            </a:r>
            <a:endParaRPr lang="en-IN" sz="1600" dirty="0"/>
          </a:p>
          <a:p>
            <a:pPr lvl="1"/>
            <a:r>
              <a:rPr lang="en-IN" sz="1600" dirty="0"/>
              <a:t>app.py – Complete Flask middleware routing with input PII sanitization, Golden Hour keyword interceptor, and IBM watsonx.ai REST integration.</a:t>
            </a:r>
          </a:p>
          <a:p>
            <a:pPr lvl="1"/>
            <a:r>
              <a:rPr lang="en-IN" sz="1600" dirty="0"/>
              <a:t>templates/index.html &amp; static/style.css – Responsive web console featuring real-time chat, UPI Safety Index, and loan EMI calculator.</a:t>
            </a:r>
          </a:p>
          <a:p>
            <a:pPr lvl="1"/>
            <a:r>
              <a:rPr lang="en-IN" sz="1600" dirty="0"/>
              <a:t>requirements.txt &amp; .</a:t>
            </a:r>
            <a:r>
              <a:rPr lang="en-IN" sz="1600" dirty="0" err="1"/>
              <a:t>env.example</a:t>
            </a:r>
            <a:r>
              <a:rPr lang="en-IN" sz="1600" dirty="0"/>
              <a:t> – Production dependencies (</a:t>
            </a:r>
            <a:r>
              <a:rPr lang="en-IN" sz="1600" dirty="0" err="1"/>
              <a:t>ibm</a:t>
            </a:r>
            <a:r>
              <a:rPr lang="en-IN" sz="1600" dirty="0"/>
              <a:t>-</a:t>
            </a:r>
            <a:r>
              <a:rPr lang="en-IN" sz="1600" dirty="0" err="1"/>
              <a:t>watsonx</a:t>
            </a:r>
            <a:r>
              <a:rPr lang="en-IN" sz="1600" dirty="0"/>
              <a:t>-ai, flask, python-</a:t>
            </a:r>
            <a:r>
              <a:rPr lang="en-IN" sz="1600" dirty="0" err="1"/>
              <a:t>dotenv</a:t>
            </a:r>
            <a:r>
              <a:rPr lang="en-IN" sz="1600" dirty="0"/>
              <a:t>) and environment configuration template.</a:t>
            </a:r>
          </a:p>
          <a:p>
            <a:pPr lvl="0"/>
            <a:r>
              <a:rPr lang="en-IN" sz="1600" b="1" dirty="0"/>
              <a:t>Problem Statement Document:</a:t>
            </a:r>
            <a:endParaRPr lang="en-IN" sz="1600" dirty="0"/>
          </a:p>
          <a:p>
            <a:pPr lvl="1"/>
            <a:r>
              <a:rPr lang="en-IN" sz="1600" dirty="0"/>
              <a:t>docs/yourproblemstatement.pdf – Formal problem statement documentation for Track #7: </a:t>
            </a:r>
            <a:r>
              <a:rPr lang="en-IN" sz="1600" i="1" dirty="0"/>
              <a:t>AI Agent for Digital Financial Literacy &amp; Cyber Fraud Prevention</a:t>
            </a:r>
            <a:r>
              <a:rPr lang="en-IN" sz="1600" dirty="0"/>
              <a:t>.</a:t>
            </a:r>
          </a:p>
          <a:p>
            <a:pPr lvl="0"/>
            <a:r>
              <a:rPr lang="en-IN" sz="1600" b="1" dirty="0"/>
              <a:t>Project Final Presentation:</a:t>
            </a:r>
            <a:endParaRPr lang="en-IN" sz="1600" dirty="0"/>
          </a:p>
          <a:p>
            <a:pPr lvl="1"/>
            <a:r>
              <a:rPr lang="en-IN" sz="1600" dirty="0"/>
              <a:t>AICTE_IBM_BOB_Project_Submission_Template_for_EduentFoundation_.pptx – Complete final presentation deck with architecture diagrams, </a:t>
            </a:r>
            <a:r>
              <a:rPr lang="en-IN" sz="1600" dirty="0" err="1"/>
              <a:t>watsonx</a:t>
            </a:r>
            <a:r>
              <a:rPr lang="en-IN" sz="1600" dirty="0"/>
              <a:t> token metrics, and output screenshots.</a:t>
            </a:r>
          </a:p>
          <a:p>
            <a:pPr lvl="0"/>
            <a:r>
              <a:rPr lang="en-IN" sz="1600" b="1" dirty="0"/>
              <a:t>Detailed Technical Documentation (README.md):</a:t>
            </a:r>
            <a:endParaRPr lang="en-IN" sz="1600" dirty="0"/>
          </a:p>
          <a:p>
            <a:pPr lvl="1"/>
            <a:r>
              <a:rPr lang="en-IN" sz="1600" b="1" dirty="0"/>
              <a:t>Active Local Endpoints:</a:t>
            </a:r>
            <a:r>
              <a:rPr lang="en-IN" sz="1600" dirty="0"/>
              <a:t> Documented for http://localhost:5000/ and [http://127.0.0.1:5000/](http://127.0.0.1:5000/).</a:t>
            </a:r>
          </a:p>
          <a:p>
            <a:pPr lvl="1"/>
            <a:r>
              <a:rPr lang="en-IN" sz="1600" b="1" dirty="0" err="1"/>
              <a:t>watsonx</a:t>
            </a:r>
            <a:r>
              <a:rPr lang="en-IN" sz="1600" b="1" dirty="0"/>
              <a:t> Model Specs:</a:t>
            </a:r>
            <a:r>
              <a:rPr lang="en-IN" sz="1600" dirty="0"/>
              <a:t> Details for </a:t>
            </a:r>
            <a:r>
              <a:rPr lang="en-IN" sz="1600" dirty="0" err="1"/>
              <a:t>ibm</a:t>
            </a:r>
            <a:r>
              <a:rPr lang="en-IN" sz="1600" dirty="0"/>
              <a:t>/granite-3-8b-instruct, Dallas (us-south) region, and Project ID cf0ca7b7-d874-4c48-9ef4-122f821fb663.</a:t>
            </a:r>
          </a:p>
          <a:p>
            <a:pPr lvl="1"/>
            <a:r>
              <a:rPr lang="en-IN" sz="1600" b="1" dirty="0"/>
              <a:t>Resource Usage Verification:</a:t>
            </a:r>
            <a:r>
              <a:rPr lang="en-IN" sz="1600" dirty="0"/>
              <a:t> Breakdown of the ~8,600 Prompt Lab tokens consumed on IBM Cloud.</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966952" y="38309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66952" y="1221715"/>
            <a:ext cx="10163502" cy="4277001"/>
          </a:xfrm>
          <a:prstGeom prst="rect">
            <a:avLst/>
          </a:prstGeom>
          <a:noFill/>
          <a:ln>
            <a:noFill/>
          </a:ln>
        </p:spPr>
        <p:txBody>
          <a:bodyPr spcFirstLastPara="1" wrap="square" lIns="0" tIns="0" rIns="0" bIns="0" anchor="t" anchorCtr="0">
            <a:noAutofit/>
          </a:bodyPr>
          <a:lstStyle/>
          <a:p>
            <a:r>
              <a:rPr lang="en-IN" sz="2000" b="1" dirty="0"/>
              <a:t>1. Direct CFCFRMS &amp; Open Banking API Integration –</a:t>
            </a:r>
            <a:r>
              <a:rPr lang="en-IN" sz="2000" dirty="0"/>
              <a:t> Integrating </a:t>
            </a:r>
            <a:r>
              <a:rPr lang="en-IN" sz="2000" dirty="0" err="1"/>
              <a:t>FinLitBot</a:t>
            </a:r>
            <a:r>
              <a:rPr lang="en-IN" sz="2000" dirty="0"/>
              <a:t> directly with banking APIs via the Account Aggregator (AA) framework and the Citizen Financial Cyber Fraud Reporting and Management System (CFCFRMS). This will enable one-click automated transaction freezing and instant suspect account blacklisting during the critical Golden Hour, advancing the agent from guided triage to direct, user-authorized emergency intervention.</a:t>
            </a:r>
          </a:p>
          <a:p>
            <a:pPr marL="457200" indent="-457200">
              <a:buAutoNum type="arabicPeriod"/>
            </a:pPr>
            <a:endParaRPr lang="en-IN" sz="2000" dirty="0"/>
          </a:p>
          <a:p>
            <a:r>
              <a:rPr lang="en-IN" sz="2000" b="1" dirty="0"/>
              <a:t>2. Vernacular Voice-First Assistant &amp; Dialect Support –</a:t>
            </a:r>
            <a:r>
              <a:rPr lang="en-IN" sz="2000" dirty="0"/>
              <a:t> Deploying multilingual speech-to-speech AI models to support major Indian regional languages (Hindi, Kannada, Tamil, Telugu, Marathi, and Bengali). This will bridge the digital divide for semi-urban and rural demographics—frequent targets of UPI social engineering scams—allowing users to report fraud and receive instant guidance entirely through voice commands.</a:t>
            </a:r>
          </a:p>
          <a:p>
            <a:endParaRPr lang="en-IN" sz="2000" dirty="0"/>
          </a:p>
          <a:p>
            <a:r>
              <a:rPr lang="en-IN" sz="2000" b="1" dirty="0"/>
              <a:t>3. Proactive Mobile Threat &amp; Malicious APK Scanner –</a:t>
            </a:r>
            <a:r>
              <a:rPr lang="en-IN" sz="2000" dirty="0"/>
              <a:t> Expanding </a:t>
            </a:r>
            <a:r>
              <a:rPr lang="en-IN" sz="2000" dirty="0" err="1"/>
              <a:t>FinLitBot</a:t>
            </a:r>
            <a:r>
              <a:rPr lang="en-IN" sz="2000" dirty="0"/>
              <a:t> into an on-device mobile companion utility that scans incoming SMS payloads for phishing links, warns against suspicious e-challan/utility APK downloads, and automatically flags active screen-sharing apps (such as </a:t>
            </a:r>
            <a:r>
              <a:rPr lang="en-IN" sz="2000" dirty="0" err="1"/>
              <a:t>AnyDesk</a:t>
            </a:r>
            <a:r>
              <a:rPr lang="en-IN" sz="2000" dirty="0"/>
              <a:t> or TeamViewer) whenever banking or UPI applications are running.</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05F5D9C4-4851-70AA-455D-72944811F2EC}"/>
              </a:ext>
            </a:extLst>
          </p:cNvPr>
          <p:cNvPicPr>
            <a:picLocks noChangeAspect="1"/>
          </p:cNvPicPr>
          <p:nvPr/>
        </p:nvPicPr>
        <p:blipFill>
          <a:blip r:embed="rId2"/>
          <a:srcRect l="34387" t="18545" r="10824" b="16321"/>
          <a:stretch>
            <a:fillRect/>
          </a:stretch>
        </p:blipFill>
        <p:spPr>
          <a:xfrm>
            <a:off x="2669628" y="1891863"/>
            <a:ext cx="6011917" cy="446689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5E1D-DF4E-2A3A-B690-3F3EDEAACAE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65C040-C831-FA7C-E185-7568BF4EC4C9}"/>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CF324DF3-6233-3692-43E1-28D94C36F5DC}"/>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Cybersecurity)  </a:t>
            </a:r>
          </a:p>
        </p:txBody>
      </p:sp>
      <p:pic>
        <p:nvPicPr>
          <p:cNvPr id="5" name="Picture 4">
            <a:extLst>
              <a:ext uri="{FF2B5EF4-FFF2-40B4-BE49-F238E27FC236}">
                <a16:creationId xmlns:a16="http://schemas.microsoft.com/office/drawing/2014/main" id="{E86FE129-0DFE-EBCC-928C-9630E72FD37A}"/>
              </a:ext>
            </a:extLst>
          </p:cNvPr>
          <p:cNvPicPr>
            <a:picLocks noChangeAspect="1"/>
          </p:cNvPicPr>
          <p:nvPr/>
        </p:nvPicPr>
        <p:blipFill>
          <a:blip r:embed="rId2"/>
          <a:srcRect l="22695" t="15733" r="22472" b="18267"/>
          <a:stretch>
            <a:fillRect/>
          </a:stretch>
        </p:blipFill>
        <p:spPr>
          <a:xfrm>
            <a:off x="3099816" y="1078992"/>
            <a:ext cx="6016752" cy="4526280"/>
          </a:xfrm>
          <a:prstGeom prst="rect">
            <a:avLst/>
          </a:prstGeom>
        </p:spPr>
      </p:pic>
    </p:spTree>
    <p:extLst>
      <p:ext uri="{BB962C8B-B14F-4D97-AF65-F5344CB8AC3E}">
        <p14:creationId xmlns:p14="http://schemas.microsoft.com/office/powerpoint/2010/main" val="89829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BD859-C7AB-A257-A2BB-BA2606D94C7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ABDE598-52D2-5644-65BF-0C4CD946EC05}"/>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EECC4C57-FB3C-DB42-770B-AA34E642D3B8}"/>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certificate(Journey to cloud :Envisioning your solution)  </a:t>
            </a:r>
          </a:p>
        </p:txBody>
      </p:sp>
      <p:pic>
        <p:nvPicPr>
          <p:cNvPr id="4" name="Picture 3">
            <a:extLst>
              <a:ext uri="{FF2B5EF4-FFF2-40B4-BE49-F238E27FC236}">
                <a16:creationId xmlns:a16="http://schemas.microsoft.com/office/drawing/2014/main" id="{411C7E07-E65B-049F-1848-682A9B39670F}"/>
              </a:ext>
            </a:extLst>
          </p:cNvPr>
          <p:cNvPicPr>
            <a:picLocks noChangeAspect="1"/>
          </p:cNvPicPr>
          <p:nvPr/>
        </p:nvPicPr>
        <p:blipFill>
          <a:blip r:embed="rId2"/>
          <a:srcRect l="19278" t="15733" r="19056" b="10062"/>
          <a:stretch>
            <a:fillRect/>
          </a:stretch>
        </p:blipFill>
        <p:spPr>
          <a:xfrm>
            <a:off x="2734056" y="1367169"/>
            <a:ext cx="6273732" cy="4718304"/>
          </a:xfrm>
          <a:prstGeom prst="rect">
            <a:avLst/>
          </a:prstGeom>
        </p:spPr>
      </p:pic>
    </p:spTree>
    <p:extLst>
      <p:ext uri="{BB962C8B-B14F-4D97-AF65-F5344CB8AC3E}">
        <p14:creationId xmlns:p14="http://schemas.microsoft.com/office/powerpoint/2010/main" val="2145177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08855C9E-779F-118A-F65A-B19DFD422AD2}"/>
              </a:ext>
            </a:extLst>
          </p:cNvPr>
          <p:cNvPicPr>
            <a:picLocks noChangeAspect="1"/>
          </p:cNvPicPr>
          <p:nvPr/>
        </p:nvPicPr>
        <p:blipFill>
          <a:blip r:embed="rId2"/>
          <a:srcRect l="9770" t="16092" r="15614" b="10498"/>
          <a:stretch>
            <a:fillRect/>
          </a:stretch>
        </p:blipFill>
        <p:spPr>
          <a:xfrm>
            <a:off x="1723695" y="1477578"/>
            <a:ext cx="8187559" cy="503445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1890</Words>
  <Application>Microsoft Office PowerPoint</Application>
  <PresentationFormat>Widescreen</PresentationFormat>
  <Paragraphs>169</Paragraphs>
  <Slides>28</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 .</cp:lastModifiedBy>
  <cp:revision>6</cp:revision>
  <dcterms:created xsi:type="dcterms:W3CDTF">2025-07-08T05:06:56Z</dcterms:created>
  <dcterms:modified xsi:type="dcterms:W3CDTF">2026-09-10T01:35:57Z</dcterms:modified>
</cp:coreProperties>
</file>