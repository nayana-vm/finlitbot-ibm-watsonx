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30"/>
  </p:notesMasterIdLst>
  <p:sldIdLst>
    <p:sldId id="290" r:id="rId2"/>
    <p:sldId id="291" r:id="rId3"/>
    <p:sldId id="292" r:id="rId4"/>
    <p:sldId id="293" r:id="rId5"/>
    <p:sldId id="294" r:id="rId6"/>
    <p:sldId id="295" r:id="rId7"/>
    <p:sldId id="296" r:id="rId8"/>
    <p:sldId id="297" r:id="rId9"/>
    <p:sldId id="310" r:id="rId10"/>
    <p:sldId id="298" r:id="rId11"/>
    <p:sldId id="299" r:id="rId12"/>
    <p:sldId id="300" r:id="rId13"/>
    <p:sldId id="301" r:id="rId14"/>
    <p:sldId id="302" r:id="rId15"/>
    <p:sldId id="303" r:id="rId16"/>
    <p:sldId id="311" r:id="rId17"/>
    <p:sldId id="312" r:id="rId18"/>
    <p:sldId id="313" r:id="rId19"/>
    <p:sldId id="314" r:id="rId20"/>
    <p:sldId id="315" r:id="rId21"/>
    <p:sldId id="304" r:id="rId22"/>
    <p:sldId id="305" r:id="rId23"/>
    <p:sldId id="306" r:id="rId24"/>
    <p:sldId id="307" r:id="rId25"/>
    <p:sldId id="316" r:id="rId26"/>
    <p:sldId id="317" r:id="rId27"/>
    <p:sldId id="308" r:id="rId28"/>
    <p:sldId id="309" r:id="rId29"/>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31"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5448"/>
    <a:srgbClr val="0D101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597DED7-87E9-8FFE-C42B-07F44890EE69}" v="36" dt="2026-07-14T12:42:56.737"/>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0" d="100"/>
          <a:sy n="70" d="100"/>
        </p:scale>
        <p:origin x="512"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customschemas.google.com/relationships/presentationmetadata" Target="meta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man Shrivastava" userId="S::ashrivastava@edunetfoundation.org::c21995ab-fa37-4cde-b5a3-dec0fb9e9a10" providerId="AD" clId="Web-{088AD18C-7811-B1E2-9ED5-57A1A5542DF6}"/>
    <pc:docChg chg="addSld delSld modSld sldOrd">
      <pc:chgData name="Aman Shrivastava" userId="S::ashrivastava@edunetfoundation.org::c21995ab-fa37-4cde-b5a3-dec0fb9e9a10" providerId="AD" clId="Web-{088AD18C-7811-B1E2-9ED5-57A1A5542DF6}" dt="2026-06-19T06:28:44.546" v="262"/>
      <pc:docMkLst>
        <pc:docMk/>
      </pc:docMkLst>
      <pc:sldChg chg="addSp delSp modSp">
        <pc:chgData name="Aman Shrivastava" userId="S::ashrivastava@edunetfoundation.org::c21995ab-fa37-4cde-b5a3-dec0fb9e9a10" providerId="AD" clId="Web-{088AD18C-7811-B1E2-9ED5-57A1A5542DF6}" dt="2026-06-19T06:24:33.481" v="246"/>
        <pc:sldMkLst>
          <pc:docMk/>
          <pc:sldMk cId="0" sldId="257"/>
        </pc:sldMkLst>
        <pc:spChg chg="add mod">
          <ac:chgData name="Aman Shrivastava" userId="S::ashrivastava@edunetfoundation.org::c21995ab-fa37-4cde-b5a3-dec0fb9e9a10" providerId="AD" clId="Web-{088AD18C-7811-B1E2-9ED5-57A1A5542DF6}" dt="2026-06-19T06:23:34.731" v="211" actId="20577"/>
          <ac:spMkLst>
            <pc:docMk/>
            <pc:sldMk cId="0" sldId="257"/>
            <ac:spMk id="3" creationId="{B0B023FA-CFEB-ACE9-8425-7E72E307CDC5}"/>
          </ac:spMkLst>
        </pc:spChg>
      </pc:sldChg>
      <pc:sldChg chg="addSp delSp modSp">
        <pc:chgData name="Aman Shrivastava" userId="S::ashrivastava@edunetfoundation.org::c21995ab-fa37-4cde-b5a3-dec0fb9e9a10" providerId="AD" clId="Web-{088AD18C-7811-B1E2-9ED5-57A1A5542DF6}" dt="2026-06-19T06:15:34.945" v="78" actId="1076"/>
        <pc:sldMkLst>
          <pc:docMk/>
          <pc:sldMk cId="0" sldId="262"/>
        </pc:sldMkLst>
        <pc:picChg chg="add mod">
          <ac:chgData name="Aman Shrivastava" userId="S::ashrivastava@edunetfoundation.org::c21995ab-fa37-4cde-b5a3-dec0fb9e9a10" providerId="AD" clId="Web-{088AD18C-7811-B1E2-9ED5-57A1A5542DF6}" dt="2026-06-19T06:15:34.945" v="78" actId="1076"/>
          <ac:picMkLst>
            <pc:docMk/>
            <pc:sldMk cId="0" sldId="262"/>
            <ac:picMk id="3" creationId="{81932CE2-F219-0CA8-0102-55B8C682B8A2}"/>
          </ac:picMkLst>
        </pc:picChg>
      </pc:sldChg>
      <pc:sldChg chg="addSp delSp modSp">
        <pc:chgData name="Aman Shrivastava" userId="S::ashrivastava@edunetfoundation.org::c21995ab-fa37-4cde-b5a3-dec0fb9e9a10" providerId="AD" clId="Web-{088AD18C-7811-B1E2-9ED5-57A1A5542DF6}" dt="2026-06-19T06:25:36.169" v="257" actId="20577"/>
        <pc:sldMkLst>
          <pc:docMk/>
          <pc:sldMk cId="2115484872" sldId="277"/>
        </pc:sldMkLst>
        <pc:spChg chg="add mod">
          <ac:chgData name="Aman Shrivastava" userId="S::ashrivastava@edunetfoundation.org::c21995ab-fa37-4cde-b5a3-dec0fb9e9a10" providerId="AD" clId="Web-{088AD18C-7811-B1E2-9ED5-57A1A5542DF6}" dt="2026-06-19T06:25:32.075" v="255" actId="20577"/>
          <ac:spMkLst>
            <pc:docMk/>
            <pc:sldMk cId="2115484872" sldId="277"/>
            <ac:spMk id="14" creationId="{7B8E599E-5B1D-59CD-4F1D-CEF8D0CA327B}"/>
          </ac:spMkLst>
        </pc:spChg>
        <pc:spChg chg="add mod">
          <ac:chgData name="Aman Shrivastava" userId="S::ashrivastava@edunetfoundation.org::c21995ab-fa37-4cde-b5a3-dec0fb9e9a10" providerId="AD" clId="Web-{088AD18C-7811-B1E2-9ED5-57A1A5542DF6}" dt="2026-06-19T06:25:36.169" v="257" actId="20577"/>
          <ac:spMkLst>
            <pc:docMk/>
            <pc:sldMk cId="2115484872" sldId="277"/>
            <ac:spMk id="15" creationId="{B22EA981-5113-2D05-C1A2-169306E1D47C}"/>
          </ac:spMkLst>
        </pc:spChg>
        <pc:picChg chg="add mod">
          <ac:chgData name="Aman Shrivastava" userId="S::ashrivastava@edunetfoundation.org::c21995ab-fa37-4cde-b5a3-dec0fb9e9a10" providerId="AD" clId="Web-{088AD18C-7811-B1E2-9ED5-57A1A5542DF6}" dt="2026-06-19T06:25:26.403" v="253" actId="1076"/>
          <ac:picMkLst>
            <pc:docMk/>
            <pc:sldMk cId="2115484872" sldId="277"/>
            <ac:picMk id="12" creationId="{3E29AF1D-88C4-87E5-74DF-4E97121E06CE}"/>
          </ac:picMkLst>
        </pc:picChg>
        <pc:picChg chg="add mod">
          <ac:chgData name="Aman Shrivastava" userId="S::ashrivastava@edunetfoundation.org::c21995ab-fa37-4cde-b5a3-dec0fb9e9a10" providerId="AD" clId="Web-{088AD18C-7811-B1E2-9ED5-57A1A5542DF6}" dt="2026-06-19T06:25:26.403" v="254" actId="1076"/>
          <ac:picMkLst>
            <pc:docMk/>
            <pc:sldMk cId="2115484872" sldId="277"/>
            <ac:picMk id="13" creationId="{C81444F5-0692-DD67-1759-70821E53B029}"/>
          </ac:picMkLst>
        </pc:picChg>
      </pc:sldChg>
      <pc:sldChg chg="addSp delSp modSp add del ord">
        <pc:chgData name="Aman Shrivastava" userId="S::ashrivastava@edunetfoundation.org::c21995ab-fa37-4cde-b5a3-dec0fb9e9a10" providerId="AD" clId="Web-{088AD18C-7811-B1E2-9ED5-57A1A5542DF6}" dt="2026-06-19T06:28:44.546" v="262"/>
        <pc:sldMkLst>
          <pc:docMk/>
          <pc:sldMk cId="3764405840" sldId="278"/>
        </pc:sldMkLst>
        <pc:spChg chg="add del mod">
          <ac:chgData name="Aman Shrivastava" userId="S::ashrivastava@edunetfoundation.org::c21995ab-fa37-4cde-b5a3-dec0fb9e9a10" providerId="AD" clId="Web-{088AD18C-7811-B1E2-9ED5-57A1A5542DF6}" dt="2026-06-19T06:06:19.065" v="68" actId="20577"/>
          <ac:spMkLst>
            <pc:docMk/>
            <pc:sldMk cId="3764405840" sldId="278"/>
            <ac:spMk id="2" creationId="{151FBD4A-3273-E454-091D-D5B0678FC299}"/>
          </ac:spMkLst>
        </pc:spChg>
      </pc:sldChg>
      <pc:sldChg chg="addSp delSp modSp">
        <pc:chgData name="Aman Shrivastava" userId="S::ashrivastava@edunetfoundation.org::c21995ab-fa37-4cde-b5a3-dec0fb9e9a10" providerId="AD" clId="Web-{088AD18C-7811-B1E2-9ED5-57A1A5542DF6}" dt="2026-06-19T06:11:15.349" v="75" actId="1076"/>
        <pc:sldMkLst>
          <pc:docMk/>
          <pc:sldMk cId="2772501912" sldId="279"/>
        </pc:sldMkLst>
        <pc:picChg chg="add mod">
          <ac:chgData name="Aman Shrivastava" userId="S::ashrivastava@edunetfoundation.org::c21995ab-fa37-4cde-b5a3-dec0fb9e9a10" providerId="AD" clId="Web-{088AD18C-7811-B1E2-9ED5-57A1A5542DF6}" dt="2026-06-19T06:11:15.349" v="75" actId="1076"/>
          <ac:picMkLst>
            <pc:docMk/>
            <pc:sldMk cId="2772501912" sldId="279"/>
            <ac:picMk id="4" creationId="{C597681A-DF93-B190-DD21-CBAEDA4E3CBF}"/>
          </ac:picMkLst>
        </pc:picChg>
      </pc:sldChg>
      <pc:sldChg chg="addSp delSp ord">
        <pc:chgData name="Aman Shrivastava" userId="S::ashrivastava@edunetfoundation.org::c21995ab-fa37-4cde-b5a3-dec0fb9e9a10" providerId="AD" clId="Web-{088AD18C-7811-B1E2-9ED5-57A1A5542DF6}" dt="2026-06-19T06:27:30.076" v="259"/>
        <pc:sldMkLst>
          <pc:docMk/>
          <pc:sldMk cId="2605851928" sldId="287"/>
        </pc:sldMkLst>
      </pc:sldChg>
      <pc:sldChg chg="addSp delSp modSp new">
        <pc:chgData name="Aman Shrivastava" userId="S::ashrivastava@edunetfoundation.org::c21995ab-fa37-4cde-b5a3-dec0fb9e9a10" providerId="AD" clId="Web-{088AD18C-7811-B1E2-9ED5-57A1A5542DF6}" dt="2026-06-19T05:49:31.148" v="36" actId="20577"/>
        <pc:sldMkLst>
          <pc:docMk/>
          <pc:sldMk cId="1229047658" sldId="288"/>
        </pc:sldMkLst>
        <pc:spChg chg="add mod">
          <ac:chgData name="Aman Shrivastava" userId="S::ashrivastava@edunetfoundation.org::c21995ab-fa37-4cde-b5a3-dec0fb9e9a10" providerId="AD" clId="Web-{088AD18C-7811-B1E2-9ED5-57A1A5542DF6}" dt="2026-06-19T05:49:31.148" v="36" actId="20577"/>
          <ac:spMkLst>
            <pc:docMk/>
            <pc:sldMk cId="1229047658" sldId="288"/>
            <ac:spMk id="6" creationId="{3F1C7BCA-5DD7-F4D3-A937-D1C56976DA01}"/>
          </ac:spMkLst>
        </pc:spChg>
      </pc:sldChg>
    </pc:docChg>
  </pc:docChgLst>
  <pc:docChgLst>
    <pc:chgData name="Aman Shrivastava" userId="S::ashrivastava@edunetfoundation.org::c21995ab-fa37-4cde-b5a3-dec0fb9e9a10" providerId="AD" clId="Web-{E27D249D-B118-0810-7731-E1B1C378D9D3}"/>
    <pc:docChg chg="modSld">
      <pc:chgData name="Aman Shrivastava" userId="S::ashrivastava@edunetfoundation.org::c21995ab-fa37-4cde-b5a3-dec0fb9e9a10" providerId="AD" clId="Web-{E27D249D-B118-0810-7731-E1B1C378D9D3}" dt="2026-06-19T09:09:54.163" v="1" actId="20577"/>
      <pc:docMkLst>
        <pc:docMk/>
      </pc:docMkLst>
      <pc:sldChg chg="modSp">
        <pc:chgData name="Aman Shrivastava" userId="S::ashrivastava@edunetfoundation.org::c21995ab-fa37-4cde-b5a3-dec0fb9e9a10" providerId="AD" clId="Web-{E27D249D-B118-0810-7731-E1B1C378D9D3}" dt="2026-06-19T09:09:54.163" v="1" actId="20577"/>
        <pc:sldMkLst>
          <pc:docMk/>
          <pc:sldMk cId="3764405840" sldId="278"/>
        </pc:sldMkLst>
        <pc:spChg chg="mod">
          <ac:chgData name="Aman Shrivastava" userId="S::ashrivastava@edunetfoundation.org::c21995ab-fa37-4cde-b5a3-dec0fb9e9a10" providerId="AD" clId="Web-{E27D249D-B118-0810-7731-E1B1C378D9D3}" dt="2026-06-19T09:09:54.163" v="1" actId="20577"/>
          <ac:spMkLst>
            <pc:docMk/>
            <pc:sldMk cId="3764405840" sldId="278"/>
            <ac:spMk id="3" creationId="{4A7608B5-9906-EFCF-959A-E89FC2E3EE19}"/>
          </ac:spMkLst>
        </pc:spChg>
      </pc:sldChg>
    </pc:docChg>
  </pc:docChgLst>
  <pc:docChgLst>
    <pc:chgData name="Bhupesh Vyankat Ther" userId="S::bvther@edunetfoundation.org::3dcf1697-dd97-45f9-859f-b5bba4487417" providerId="AD" clId="Web-{9DDCDCB8-E336-06C9-9BC1-C212CD122CD0}"/>
    <pc:docChg chg="modSld">
      <pc:chgData name="Bhupesh Vyankat Ther" userId="S::bvther@edunetfoundation.org::3dcf1697-dd97-45f9-859f-b5bba4487417" providerId="AD" clId="Web-{9DDCDCB8-E336-06C9-9BC1-C212CD122CD0}" dt="2026-06-23T04:41:50.196" v="0" actId="1076"/>
      <pc:docMkLst>
        <pc:docMk/>
      </pc:docMkLst>
      <pc:sldChg chg="modSp">
        <pc:chgData name="Bhupesh Vyankat Ther" userId="S::bvther@edunetfoundation.org::3dcf1697-dd97-45f9-859f-b5bba4487417" providerId="AD" clId="Web-{9DDCDCB8-E336-06C9-9BC1-C212CD122CD0}" dt="2026-06-23T04:41:50.196" v="0" actId="1076"/>
        <pc:sldMkLst>
          <pc:docMk/>
          <pc:sldMk cId="1229047658" sldId="288"/>
        </pc:sldMkLst>
        <pc:picChg chg="mod">
          <ac:chgData name="Bhupesh Vyankat Ther" userId="S::bvther@edunetfoundation.org::3dcf1697-dd97-45f9-859f-b5bba4487417" providerId="AD" clId="Web-{9DDCDCB8-E336-06C9-9BC1-C212CD122CD0}" dt="2026-06-23T04:41:50.196" v="0" actId="1076"/>
          <ac:picMkLst>
            <pc:docMk/>
            <pc:sldMk cId="1229047658" sldId="288"/>
            <ac:picMk id="4" creationId="{A037CFD0-B7FF-D9BE-3433-88E5844EF332}"/>
          </ac:picMkLst>
        </pc:picChg>
      </pc:sldChg>
    </pc:docChg>
  </pc:docChgLst>
  <pc:docChgLst>
    <pc:chgData name="Aswini Kumar Motapothula" userId="S::aswinikumar@edunetfoundation.org::8849ae8d-bc89-4217-899c-9440ffcae5bb" providerId="AD" clId="Web-{5597DED7-87E9-8FFE-C42B-07F44890EE69}"/>
    <pc:docChg chg="addSld delSld">
      <pc:chgData name="Aswini Kumar Motapothula" userId="S::aswinikumar@edunetfoundation.org::8849ae8d-bc89-4217-899c-9440ffcae5bb" providerId="AD" clId="Web-{5597DED7-87E9-8FFE-C42B-07F44890EE69}" dt="2026-07-14T12:42:56.737" v="35"/>
      <pc:docMkLst>
        <pc:docMk/>
      </pc:docMkLst>
      <pc:sldChg chg="del">
        <pc:chgData name="Aswini Kumar Motapothula" userId="S::aswinikumar@edunetfoundation.org::8849ae8d-bc89-4217-899c-9440ffcae5bb" providerId="AD" clId="Web-{5597DED7-87E9-8FFE-C42B-07F44890EE69}" dt="2026-07-14T12:42:56.737" v="35"/>
        <pc:sldMkLst>
          <pc:docMk/>
          <pc:sldMk cId="0" sldId="257"/>
        </pc:sldMkLst>
      </pc:sldChg>
      <pc:sldChg chg="del">
        <pc:chgData name="Aswini Kumar Motapothula" userId="S::aswinikumar@edunetfoundation.org::8849ae8d-bc89-4217-899c-9440ffcae5bb" providerId="AD" clId="Web-{5597DED7-87E9-8FFE-C42B-07F44890EE69}" dt="2026-07-14T12:42:56.737" v="29"/>
        <pc:sldMkLst>
          <pc:docMk/>
          <pc:sldMk cId="0" sldId="262"/>
        </pc:sldMkLst>
      </pc:sldChg>
      <pc:sldChg chg="del">
        <pc:chgData name="Aswini Kumar Motapothula" userId="S::aswinikumar@edunetfoundation.org::8849ae8d-bc89-4217-899c-9440ffcae5bb" providerId="AD" clId="Web-{5597DED7-87E9-8FFE-C42B-07F44890EE69}" dt="2026-07-14T12:42:56.737" v="28"/>
        <pc:sldMkLst>
          <pc:docMk/>
          <pc:sldMk cId="0" sldId="264"/>
        </pc:sldMkLst>
      </pc:sldChg>
      <pc:sldChg chg="del">
        <pc:chgData name="Aswini Kumar Motapothula" userId="S::aswinikumar@edunetfoundation.org::8849ae8d-bc89-4217-899c-9440ffcae5bb" providerId="AD" clId="Web-{5597DED7-87E9-8FFE-C42B-07F44890EE69}" dt="2026-07-14T12:42:56.721" v="21"/>
        <pc:sldMkLst>
          <pc:docMk/>
          <pc:sldMk cId="0" sldId="276"/>
        </pc:sldMkLst>
      </pc:sldChg>
      <pc:sldChg chg="del">
        <pc:chgData name="Aswini Kumar Motapothula" userId="S::aswinikumar@edunetfoundation.org::8849ae8d-bc89-4217-899c-9440ffcae5bb" providerId="AD" clId="Web-{5597DED7-87E9-8FFE-C42B-07F44890EE69}" dt="2026-07-14T12:42:56.737" v="27"/>
        <pc:sldMkLst>
          <pc:docMk/>
          <pc:sldMk cId="2115484872" sldId="277"/>
        </pc:sldMkLst>
      </pc:sldChg>
      <pc:sldChg chg="del">
        <pc:chgData name="Aswini Kumar Motapothula" userId="S::aswinikumar@edunetfoundation.org::8849ae8d-bc89-4217-899c-9440ffcae5bb" providerId="AD" clId="Web-{5597DED7-87E9-8FFE-C42B-07F44890EE69}" dt="2026-07-14T12:42:56.737" v="32"/>
        <pc:sldMkLst>
          <pc:docMk/>
          <pc:sldMk cId="3764405840" sldId="278"/>
        </pc:sldMkLst>
      </pc:sldChg>
      <pc:sldChg chg="del">
        <pc:chgData name="Aswini Kumar Motapothula" userId="S::aswinikumar@edunetfoundation.org::8849ae8d-bc89-4217-899c-9440ffcae5bb" providerId="AD" clId="Web-{5597DED7-87E9-8FFE-C42B-07F44890EE69}" dt="2026-07-14T12:42:56.737" v="30"/>
        <pc:sldMkLst>
          <pc:docMk/>
          <pc:sldMk cId="2772501912" sldId="279"/>
        </pc:sldMkLst>
      </pc:sldChg>
      <pc:sldChg chg="del">
        <pc:chgData name="Aswini Kumar Motapothula" userId="S::aswinikumar@edunetfoundation.org::8849ae8d-bc89-4217-899c-9440ffcae5bb" providerId="AD" clId="Web-{5597DED7-87E9-8FFE-C42B-07F44890EE69}" dt="2026-07-14T12:42:56.721" v="24"/>
        <pc:sldMkLst>
          <pc:docMk/>
          <pc:sldMk cId="2136706720" sldId="280"/>
        </pc:sldMkLst>
      </pc:sldChg>
      <pc:sldChg chg="del">
        <pc:chgData name="Aswini Kumar Motapothula" userId="S::aswinikumar@edunetfoundation.org::8849ae8d-bc89-4217-899c-9440ffcae5bb" providerId="AD" clId="Web-{5597DED7-87E9-8FFE-C42B-07F44890EE69}" dt="2026-07-14T12:42:56.737" v="31"/>
        <pc:sldMkLst>
          <pc:docMk/>
          <pc:sldMk cId="328526394" sldId="281"/>
        </pc:sldMkLst>
      </pc:sldChg>
      <pc:sldChg chg="del">
        <pc:chgData name="Aswini Kumar Motapothula" userId="S::aswinikumar@edunetfoundation.org::8849ae8d-bc89-4217-899c-9440ffcae5bb" providerId="AD" clId="Web-{5597DED7-87E9-8FFE-C42B-07F44890EE69}" dt="2026-07-14T12:42:56.737" v="34"/>
        <pc:sldMkLst>
          <pc:docMk/>
          <pc:sldMk cId="2952584201" sldId="282"/>
        </pc:sldMkLst>
      </pc:sldChg>
      <pc:sldChg chg="del">
        <pc:chgData name="Aswini Kumar Motapothula" userId="S::aswinikumar@edunetfoundation.org::8849ae8d-bc89-4217-899c-9440ffcae5bb" providerId="AD" clId="Web-{5597DED7-87E9-8FFE-C42B-07F44890EE69}" dt="2026-07-14T12:42:42.455" v="20"/>
        <pc:sldMkLst>
          <pc:docMk/>
          <pc:sldMk cId="957564641" sldId="283"/>
        </pc:sldMkLst>
      </pc:sldChg>
      <pc:sldChg chg="del">
        <pc:chgData name="Aswini Kumar Motapothula" userId="S::aswinikumar@edunetfoundation.org::8849ae8d-bc89-4217-899c-9440ffcae5bb" providerId="AD" clId="Web-{5597DED7-87E9-8FFE-C42B-07F44890EE69}" dt="2026-07-14T12:42:56.737" v="33"/>
        <pc:sldMkLst>
          <pc:docMk/>
          <pc:sldMk cId="2290294991" sldId="285"/>
        </pc:sldMkLst>
      </pc:sldChg>
      <pc:sldChg chg="del">
        <pc:chgData name="Aswini Kumar Motapothula" userId="S::aswinikumar@edunetfoundation.org::8849ae8d-bc89-4217-899c-9440ffcae5bb" providerId="AD" clId="Web-{5597DED7-87E9-8FFE-C42B-07F44890EE69}" dt="2026-07-14T12:42:56.737" v="26"/>
        <pc:sldMkLst>
          <pc:docMk/>
          <pc:sldMk cId="917964102" sldId="286"/>
        </pc:sldMkLst>
      </pc:sldChg>
      <pc:sldChg chg="del">
        <pc:chgData name="Aswini Kumar Motapothula" userId="S::aswinikumar@edunetfoundation.org::8849ae8d-bc89-4217-899c-9440ffcae5bb" providerId="AD" clId="Web-{5597DED7-87E9-8FFE-C42B-07F44890EE69}" dt="2026-07-14T12:42:56.721" v="25"/>
        <pc:sldMkLst>
          <pc:docMk/>
          <pc:sldMk cId="2605851928" sldId="287"/>
        </pc:sldMkLst>
      </pc:sldChg>
      <pc:sldChg chg="del">
        <pc:chgData name="Aswini Kumar Motapothula" userId="S::aswinikumar@edunetfoundation.org::8849ae8d-bc89-4217-899c-9440ffcae5bb" providerId="AD" clId="Web-{5597DED7-87E9-8FFE-C42B-07F44890EE69}" dt="2026-07-14T12:42:56.721" v="23"/>
        <pc:sldMkLst>
          <pc:docMk/>
          <pc:sldMk cId="1229047658" sldId="288"/>
        </pc:sldMkLst>
      </pc:sldChg>
      <pc:sldChg chg="del">
        <pc:chgData name="Aswini Kumar Motapothula" userId="S::aswinikumar@edunetfoundation.org::8849ae8d-bc89-4217-899c-9440ffcae5bb" providerId="AD" clId="Web-{5597DED7-87E9-8FFE-C42B-07F44890EE69}" dt="2026-07-14T12:42:56.721" v="22"/>
        <pc:sldMkLst>
          <pc:docMk/>
          <pc:sldMk cId="2506610743" sldId="289"/>
        </pc:sldMkLst>
      </pc:sldChg>
      <pc:sldChg chg="add">
        <pc:chgData name="Aswini Kumar Motapothula" userId="S::aswinikumar@edunetfoundation.org::8849ae8d-bc89-4217-899c-9440ffcae5bb" providerId="AD" clId="Web-{5597DED7-87E9-8FFE-C42B-07F44890EE69}" dt="2026-07-14T12:42:28.157" v="0"/>
        <pc:sldMkLst>
          <pc:docMk/>
          <pc:sldMk cId="3828559527" sldId="290"/>
        </pc:sldMkLst>
      </pc:sldChg>
      <pc:sldChg chg="add">
        <pc:chgData name="Aswini Kumar Motapothula" userId="S::aswinikumar@edunetfoundation.org::8849ae8d-bc89-4217-899c-9440ffcae5bb" providerId="AD" clId="Web-{5597DED7-87E9-8FFE-C42B-07F44890EE69}" dt="2026-07-14T12:42:28.204" v="1"/>
        <pc:sldMkLst>
          <pc:docMk/>
          <pc:sldMk cId="952317876" sldId="291"/>
        </pc:sldMkLst>
      </pc:sldChg>
      <pc:sldChg chg="add">
        <pc:chgData name="Aswini Kumar Motapothula" userId="S::aswinikumar@edunetfoundation.org::8849ae8d-bc89-4217-899c-9440ffcae5bb" providerId="AD" clId="Web-{5597DED7-87E9-8FFE-C42B-07F44890EE69}" dt="2026-07-14T12:42:28.266" v="2"/>
        <pc:sldMkLst>
          <pc:docMk/>
          <pc:sldMk cId="261653373" sldId="292"/>
        </pc:sldMkLst>
      </pc:sldChg>
      <pc:sldChg chg="add">
        <pc:chgData name="Aswini Kumar Motapothula" userId="S::aswinikumar@edunetfoundation.org::8849ae8d-bc89-4217-899c-9440ffcae5bb" providerId="AD" clId="Web-{5597DED7-87E9-8FFE-C42B-07F44890EE69}" dt="2026-07-14T12:42:28.313" v="3"/>
        <pc:sldMkLst>
          <pc:docMk/>
          <pc:sldMk cId="619459906" sldId="293"/>
        </pc:sldMkLst>
      </pc:sldChg>
      <pc:sldChg chg="add">
        <pc:chgData name="Aswini Kumar Motapothula" userId="S::aswinikumar@edunetfoundation.org::8849ae8d-bc89-4217-899c-9440ffcae5bb" providerId="AD" clId="Web-{5597DED7-87E9-8FFE-C42B-07F44890EE69}" dt="2026-07-14T12:42:28.360" v="4"/>
        <pc:sldMkLst>
          <pc:docMk/>
          <pc:sldMk cId="443603904" sldId="294"/>
        </pc:sldMkLst>
      </pc:sldChg>
      <pc:sldChg chg="add">
        <pc:chgData name="Aswini Kumar Motapothula" userId="S::aswinikumar@edunetfoundation.org::8849ae8d-bc89-4217-899c-9440ffcae5bb" providerId="AD" clId="Web-{5597DED7-87E9-8FFE-C42B-07F44890EE69}" dt="2026-07-14T12:42:28.563" v="5"/>
        <pc:sldMkLst>
          <pc:docMk/>
          <pc:sldMk cId="3114963633" sldId="295"/>
        </pc:sldMkLst>
      </pc:sldChg>
      <pc:sldChg chg="add">
        <pc:chgData name="Aswini Kumar Motapothula" userId="S::aswinikumar@edunetfoundation.org::8849ae8d-bc89-4217-899c-9440ffcae5bb" providerId="AD" clId="Web-{5597DED7-87E9-8FFE-C42B-07F44890EE69}" dt="2026-07-14T12:42:28.735" v="6"/>
        <pc:sldMkLst>
          <pc:docMk/>
          <pc:sldMk cId="1316545553" sldId="296"/>
        </pc:sldMkLst>
      </pc:sldChg>
      <pc:sldChg chg="add">
        <pc:chgData name="Aswini Kumar Motapothula" userId="S::aswinikumar@edunetfoundation.org::8849ae8d-bc89-4217-899c-9440ffcae5bb" providerId="AD" clId="Web-{5597DED7-87E9-8FFE-C42B-07F44890EE69}" dt="2026-07-14T12:42:28.923" v="7"/>
        <pc:sldMkLst>
          <pc:docMk/>
          <pc:sldMk cId="232371894" sldId="297"/>
        </pc:sldMkLst>
      </pc:sldChg>
      <pc:sldChg chg="add">
        <pc:chgData name="Aswini Kumar Motapothula" userId="S::aswinikumar@edunetfoundation.org::8849ae8d-bc89-4217-899c-9440ffcae5bb" providerId="AD" clId="Web-{5597DED7-87E9-8FFE-C42B-07F44890EE69}" dt="2026-07-14T12:42:29.094" v="8"/>
        <pc:sldMkLst>
          <pc:docMk/>
          <pc:sldMk cId="445195169" sldId="298"/>
        </pc:sldMkLst>
      </pc:sldChg>
      <pc:sldChg chg="add">
        <pc:chgData name="Aswini Kumar Motapothula" userId="S::aswinikumar@edunetfoundation.org::8849ae8d-bc89-4217-899c-9440ffcae5bb" providerId="AD" clId="Web-{5597DED7-87E9-8FFE-C42B-07F44890EE69}" dt="2026-07-14T12:42:29.235" v="9"/>
        <pc:sldMkLst>
          <pc:docMk/>
          <pc:sldMk cId="4000696967" sldId="299"/>
        </pc:sldMkLst>
      </pc:sldChg>
      <pc:sldChg chg="add">
        <pc:chgData name="Aswini Kumar Motapothula" userId="S::aswinikumar@edunetfoundation.org::8849ae8d-bc89-4217-899c-9440ffcae5bb" providerId="AD" clId="Web-{5597DED7-87E9-8FFE-C42B-07F44890EE69}" dt="2026-07-14T12:42:29.345" v="10"/>
        <pc:sldMkLst>
          <pc:docMk/>
          <pc:sldMk cId="893417001" sldId="300"/>
        </pc:sldMkLst>
      </pc:sldChg>
      <pc:sldChg chg="add">
        <pc:chgData name="Aswini Kumar Motapothula" userId="S::aswinikumar@edunetfoundation.org::8849ae8d-bc89-4217-899c-9440ffcae5bb" providerId="AD" clId="Web-{5597DED7-87E9-8FFE-C42B-07F44890EE69}" dt="2026-07-14T12:42:29.548" v="11"/>
        <pc:sldMkLst>
          <pc:docMk/>
          <pc:sldMk cId="1429961814" sldId="301"/>
        </pc:sldMkLst>
      </pc:sldChg>
      <pc:sldChg chg="add">
        <pc:chgData name="Aswini Kumar Motapothula" userId="S::aswinikumar@edunetfoundation.org::8849ae8d-bc89-4217-899c-9440ffcae5bb" providerId="AD" clId="Web-{5597DED7-87E9-8FFE-C42B-07F44890EE69}" dt="2026-07-14T12:42:29.704" v="12"/>
        <pc:sldMkLst>
          <pc:docMk/>
          <pc:sldMk cId="3585092305" sldId="302"/>
        </pc:sldMkLst>
      </pc:sldChg>
      <pc:sldChg chg="add">
        <pc:chgData name="Aswini Kumar Motapothula" userId="S::aswinikumar@edunetfoundation.org::8849ae8d-bc89-4217-899c-9440ffcae5bb" providerId="AD" clId="Web-{5597DED7-87E9-8FFE-C42B-07F44890EE69}" dt="2026-07-14T12:42:29.876" v="13"/>
        <pc:sldMkLst>
          <pc:docMk/>
          <pc:sldMk cId="2601907186" sldId="303"/>
        </pc:sldMkLst>
      </pc:sldChg>
      <pc:sldChg chg="add">
        <pc:chgData name="Aswini Kumar Motapothula" userId="S::aswinikumar@edunetfoundation.org::8849ae8d-bc89-4217-899c-9440ffcae5bb" providerId="AD" clId="Web-{5597DED7-87E9-8FFE-C42B-07F44890EE69}" dt="2026-07-14T12:42:29.938" v="14"/>
        <pc:sldMkLst>
          <pc:docMk/>
          <pc:sldMk cId="2325282270" sldId="304"/>
        </pc:sldMkLst>
      </pc:sldChg>
      <pc:sldChg chg="add">
        <pc:chgData name="Aswini Kumar Motapothula" userId="S::aswinikumar@edunetfoundation.org::8849ae8d-bc89-4217-899c-9440ffcae5bb" providerId="AD" clId="Web-{5597DED7-87E9-8FFE-C42B-07F44890EE69}" dt="2026-07-14T12:42:29.970" v="15"/>
        <pc:sldMkLst>
          <pc:docMk/>
          <pc:sldMk cId="4040412275" sldId="305"/>
        </pc:sldMkLst>
      </pc:sldChg>
      <pc:sldChg chg="add">
        <pc:chgData name="Aswini Kumar Motapothula" userId="S::aswinikumar@edunetfoundation.org::8849ae8d-bc89-4217-899c-9440ffcae5bb" providerId="AD" clId="Web-{5597DED7-87E9-8FFE-C42B-07F44890EE69}" dt="2026-07-14T12:42:30.016" v="16"/>
        <pc:sldMkLst>
          <pc:docMk/>
          <pc:sldMk cId="740028465" sldId="306"/>
        </pc:sldMkLst>
      </pc:sldChg>
      <pc:sldChg chg="add">
        <pc:chgData name="Aswini Kumar Motapothula" userId="S::aswinikumar@edunetfoundation.org::8849ae8d-bc89-4217-899c-9440ffcae5bb" providerId="AD" clId="Web-{5597DED7-87E9-8FFE-C42B-07F44890EE69}" dt="2026-07-14T12:42:30.157" v="17"/>
        <pc:sldMkLst>
          <pc:docMk/>
          <pc:sldMk cId="2833482715" sldId="307"/>
        </pc:sldMkLst>
      </pc:sldChg>
      <pc:sldChg chg="add">
        <pc:chgData name="Aswini Kumar Motapothula" userId="S::aswinikumar@edunetfoundation.org::8849ae8d-bc89-4217-899c-9440ffcae5bb" providerId="AD" clId="Web-{5597DED7-87E9-8FFE-C42B-07F44890EE69}" dt="2026-07-14T12:42:30.282" v="18"/>
        <pc:sldMkLst>
          <pc:docMk/>
          <pc:sldMk cId="4175177701" sldId="308"/>
        </pc:sldMkLst>
      </pc:sldChg>
      <pc:sldChg chg="add">
        <pc:chgData name="Aswini Kumar Motapothula" userId="S::aswinikumar@edunetfoundation.org::8849ae8d-bc89-4217-899c-9440ffcae5bb" providerId="AD" clId="Web-{5597DED7-87E9-8FFE-C42B-07F44890EE69}" dt="2026-07-14T12:42:30.391" v="19"/>
        <pc:sldMkLst>
          <pc:docMk/>
          <pc:sldMk cId="1440137342" sldId="309"/>
        </pc:sldMkLst>
      </pc:sldChg>
    </pc:docChg>
  </pc:docChgLst>
  <pc:docChgLst>
    <pc:chgData name="Aswini Kumar Motapothula" userId="S::aswinikumar@edunetfoundation.org::8849ae8d-bc89-4217-899c-9440ffcae5bb" providerId="AD" clId="Web-{0037A25B-DA5D-A37C-3B36-7F0977405ABF}"/>
    <pc:docChg chg="addSld modSld">
      <pc:chgData name="Aswini Kumar Motapothula" userId="S::aswinikumar@edunetfoundation.org::8849ae8d-bc89-4217-899c-9440ffcae5bb" providerId="AD" clId="Web-{0037A25B-DA5D-A37C-3B36-7F0977405ABF}" dt="2026-06-19T05:59:39.887" v="95" actId="20577"/>
      <pc:docMkLst>
        <pc:docMk/>
      </pc:docMkLst>
      <pc:sldChg chg="addSp delSp modSp">
        <pc:chgData name="Aswini Kumar Motapothula" userId="S::aswinikumar@edunetfoundation.org::8849ae8d-bc89-4217-899c-9440ffcae5bb" providerId="AD" clId="Web-{0037A25B-DA5D-A37C-3B36-7F0977405ABF}" dt="2026-06-19T05:59:39.887" v="95" actId="20577"/>
        <pc:sldMkLst>
          <pc:docMk/>
          <pc:sldMk cId="1229047658" sldId="288"/>
        </pc:sldMkLst>
        <pc:spChg chg="add mod">
          <ac:chgData name="Aswini Kumar Motapothula" userId="S::aswinikumar@edunetfoundation.org::8849ae8d-bc89-4217-899c-9440ffcae5bb" providerId="AD" clId="Web-{0037A25B-DA5D-A37C-3B36-7F0977405ABF}" dt="2026-06-19T05:59:39.887" v="95" actId="20577"/>
          <ac:spMkLst>
            <pc:docMk/>
            <pc:sldMk cId="1229047658" sldId="288"/>
            <ac:spMk id="3" creationId="{4837D5EE-379B-FDC5-0854-8AC81D31FADF}"/>
          </ac:spMkLst>
        </pc:spChg>
      </pc:sldChg>
      <pc:sldChg chg="addSp delSp modSp new">
        <pc:chgData name="Aswini Kumar Motapothula" userId="S::aswinikumar@edunetfoundation.org::8849ae8d-bc89-4217-899c-9440ffcae5bb" providerId="AD" clId="Web-{0037A25B-DA5D-A37C-3B36-7F0977405ABF}" dt="2026-06-19T05:55:38.278" v="91" actId="1076"/>
        <pc:sldMkLst>
          <pc:docMk/>
          <pc:sldMk cId="2506610743" sldId="289"/>
        </pc:sldMkLst>
        <pc:spChg chg="add mod">
          <ac:chgData name="Aswini Kumar Motapothula" userId="S::aswinikumar@edunetfoundation.org::8849ae8d-bc89-4217-899c-9440ffcae5bb" providerId="AD" clId="Web-{0037A25B-DA5D-A37C-3B36-7F0977405ABF}" dt="2026-06-19T05:54:43.950" v="57" actId="1076"/>
          <ac:spMkLst>
            <pc:docMk/>
            <pc:sldMk cId="2506610743" sldId="289"/>
            <ac:spMk id="5" creationId="{CA8544A9-CF92-3FAF-D3EE-31DF90F7A64D}"/>
          </ac:spMkLst>
        </pc:spChg>
        <pc:spChg chg="add mod">
          <ac:chgData name="Aswini Kumar Motapothula" userId="S::aswinikumar@edunetfoundation.org::8849ae8d-bc89-4217-899c-9440ffcae5bb" providerId="AD" clId="Web-{0037A25B-DA5D-A37C-3B36-7F0977405ABF}" dt="2026-06-19T05:55:27.278" v="87" actId="20577"/>
          <ac:spMkLst>
            <pc:docMk/>
            <pc:sldMk cId="2506610743" sldId="289"/>
            <ac:spMk id="6" creationId="{C0D36B1A-26C2-CD55-1032-4CB5E4EDF305}"/>
          </ac:spMkLst>
        </pc:spChg>
        <pc:picChg chg="add mod modCrop">
          <ac:chgData name="Aswini Kumar Motapothula" userId="S::aswinikumar@edunetfoundation.org::8849ae8d-bc89-4217-899c-9440ffcae5bb" providerId="AD" clId="Web-{0037A25B-DA5D-A37C-3B36-7F0977405ABF}" dt="2026-06-19T05:55:38.278" v="91" actId="1076"/>
          <ac:picMkLst>
            <pc:docMk/>
            <pc:sldMk cId="2506610743" sldId="289"/>
            <ac:picMk id="4" creationId="{099C3698-991D-7A38-C456-893C84C23FC9}"/>
          </ac:picMkLst>
        </pc:picChg>
      </pc:sldChg>
    </pc:docChg>
  </pc:docChgLst>
  <pc:docChgLst>
    <pc:chgData name="Aman Shrivastava" userId="S::ashrivastava@edunetfoundation.org::c21995ab-fa37-4cde-b5a3-dec0fb9e9a10" providerId="AD" clId="Web-{A6B9108B-7598-1D50-C4AA-8A38026DAEEF}"/>
    <pc:docChg chg="modSld">
      <pc:chgData name="Aman Shrivastava" userId="S::ashrivastava@edunetfoundation.org::c21995ab-fa37-4cde-b5a3-dec0fb9e9a10" providerId="AD" clId="Web-{A6B9108B-7598-1D50-C4AA-8A38026DAEEF}" dt="2026-06-19T06:56:18.840" v="15" actId="20577"/>
      <pc:docMkLst>
        <pc:docMk/>
      </pc:docMkLst>
      <pc:sldChg chg="modSp">
        <pc:chgData name="Aman Shrivastava" userId="S::ashrivastava@edunetfoundation.org::c21995ab-fa37-4cde-b5a3-dec0fb9e9a10" providerId="AD" clId="Web-{A6B9108B-7598-1D50-C4AA-8A38026DAEEF}" dt="2026-06-19T06:56:18.840" v="15" actId="20577"/>
        <pc:sldMkLst>
          <pc:docMk/>
          <pc:sldMk cId="2605851928" sldId="287"/>
        </pc:sldMkLst>
        <pc:spChg chg="mod">
          <ac:chgData name="Aman Shrivastava" userId="S::ashrivastava@edunetfoundation.org::c21995ab-fa37-4cde-b5a3-dec0fb9e9a10" providerId="AD" clId="Web-{A6B9108B-7598-1D50-C4AA-8A38026DAEEF}" dt="2026-06-19T06:56:18.840" v="15" actId="20577"/>
          <ac:spMkLst>
            <pc:docMk/>
            <pc:sldMk cId="2605851928" sldId="287"/>
            <ac:spMk id="279" creationId="{3711AF54-94A6-B837-31EF-9A8C4ECB9AF6}"/>
          </ac:spMkLst>
        </pc:spChg>
      </pc:sldChg>
      <pc:sldChg chg="addSp delSp modSp">
        <pc:chgData name="Aman Shrivastava" userId="S::ashrivastava@edunetfoundation.org::c21995ab-fa37-4cde-b5a3-dec0fb9e9a10" providerId="AD" clId="Web-{A6B9108B-7598-1D50-C4AA-8A38026DAEEF}" dt="2026-06-19T06:56:04.356" v="13" actId="1076"/>
        <pc:sldMkLst>
          <pc:docMk/>
          <pc:sldMk cId="1229047658" sldId="288"/>
        </pc:sldMkLst>
        <pc:picChg chg="add mod">
          <ac:chgData name="Aman Shrivastava" userId="S::ashrivastava@edunetfoundation.org::c21995ab-fa37-4cde-b5a3-dec0fb9e9a10" providerId="AD" clId="Web-{A6B9108B-7598-1D50-C4AA-8A38026DAEEF}" dt="2026-06-19T06:56:04.356" v="13" actId="1076"/>
          <ac:picMkLst>
            <pc:docMk/>
            <pc:sldMk cId="1229047658" sldId="288"/>
            <ac:picMk id="4" creationId="{A037CFD0-B7FF-D9BE-3433-88E5844EF332}"/>
          </ac:picMkLst>
        </pc:picChg>
      </pc:sldChg>
      <pc:sldChg chg="addSp delSp modSp">
        <pc:chgData name="Aman Shrivastava" userId="S::ashrivastava@edunetfoundation.org::c21995ab-fa37-4cde-b5a3-dec0fb9e9a10" providerId="AD" clId="Web-{A6B9108B-7598-1D50-C4AA-8A38026DAEEF}" dt="2026-06-19T06:53:17.010" v="3"/>
        <pc:sldMkLst>
          <pc:docMk/>
          <pc:sldMk cId="2506610743" sldId="28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8E9CB32A-B328-07DF-4F33-E0118C920B5A}"/>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BD392DC-EA03-14B5-7A53-AC36124B4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90BE8D5-07EC-73D0-0A62-4778024FF05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842077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F18774C-544B-0071-4FA9-86D0ADEC5A87}"/>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68645894-EE59-A5F4-D411-C82EB564E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EE489F0-0910-6D8B-0254-C25DB088272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735855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BB47F127-39C9-4CE0-52A6-66BD53AE96F2}"/>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57CB72F8-8B0E-1466-D091-917F3E75592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1CEA3A31-DD75-5F0D-19FB-8192F5E7F9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58712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3165F69B-41B0-768F-0295-672767BF9071}"/>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F48A18DA-692B-46F7-66AF-2368D692AA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2E6A9C4D-ADD5-BE3B-8C33-18E6D8CC112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614153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D7CACF43-8D75-B0F6-F241-B38DB9D6A975}"/>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3565E92-76F5-74EB-D828-6B7C39F257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BCC9C5D-690B-22B9-C41A-EB38E08A5EE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171232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1AAFC32A-0B5C-9C24-CE80-CA98A0F8BB7F}"/>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05BFB2E1-7000-6DD0-F00A-651AF9DF9FC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7D4E87A-FE9A-E4B5-A76E-A9D66FCBFC6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6154545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C72ED8D9-E124-B781-1427-12F5F53C1202}"/>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73D42F2A-E3D3-0ADF-E66C-B13AF24FDFB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263091FB-BB67-24D0-12D9-5EF823EAA1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0805042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3916F305-314B-61D5-43A3-A2CA32F84704}"/>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2689D959-8005-3916-2001-0C3AB09D6B4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74DFB7EB-AD4A-C805-C24D-53487504FCE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8670030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mailto:nayana.vm.2026@gmail.com"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1.jpe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hyperlink" Target="https://github.com/Nayana-vm/FinLitBot-IBM-watsonx" TargetMode="External"/><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Agentic AI with IBM Granite and IBM Bob”</a:t>
            </a:r>
            <a:endParaRPr lang="en-IN"/>
          </a:p>
        </p:txBody>
      </p:sp>
    </p:spTree>
    <p:extLst>
      <p:ext uri="{BB962C8B-B14F-4D97-AF65-F5344CB8AC3E}">
        <p14:creationId xmlns:p14="http://schemas.microsoft.com/office/powerpoint/2010/main" val="38285595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212731959"/>
              </p:ext>
            </p:extLst>
          </p:nvPr>
        </p:nvGraphicFramePr>
        <p:xfrm>
          <a:off x="1299255" y="2128746"/>
          <a:ext cx="10202120" cy="4452613"/>
        </p:xfrm>
        <a:graphic>
          <a:graphicData uri="http://schemas.openxmlformats.org/drawingml/2006/table">
            <a:tbl>
              <a:tblPr>
                <a:noFill/>
                <a:tableStyleId>{0AAD8F4D-43EB-41E5-8A38-28AB6DFB1B60}</a:tableStyleId>
              </a:tblPr>
              <a:tblGrid>
                <a:gridCol w="2242262">
                  <a:extLst>
                    <a:ext uri="{9D8B030D-6E8A-4147-A177-3AD203B41FA5}">
                      <a16:colId xmlns:a16="http://schemas.microsoft.com/office/drawing/2014/main" val="20000"/>
                    </a:ext>
                  </a:extLst>
                </a:gridCol>
                <a:gridCol w="2653286">
                  <a:extLst>
                    <a:ext uri="{9D8B030D-6E8A-4147-A177-3AD203B41FA5}">
                      <a16:colId xmlns:a16="http://schemas.microsoft.com/office/drawing/2014/main" val="20002"/>
                    </a:ext>
                  </a:extLst>
                </a:gridCol>
                <a:gridCol w="3214373">
                  <a:extLst>
                    <a:ext uri="{9D8B030D-6E8A-4147-A177-3AD203B41FA5}">
                      <a16:colId xmlns:a16="http://schemas.microsoft.com/office/drawing/2014/main" val="20003"/>
                    </a:ext>
                  </a:extLst>
                </a:gridCol>
                <a:gridCol w="2092199">
                  <a:extLst>
                    <a:ext uri="{9D8B030D-6E8A-4147-A177-3AD203B41FA5}">
                      <a16:colId xmlns:a16="http://schemas.microsoft.com/office/drawing/2014/main" val="20004"/>
                    </a:ext>
                  </a:extLst>
                </a:gridCol>
              </a:tblGrid>
              <a:tr h="1456009">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dirty="0"/>
                        <a:t>Recent Passport Photo</a:t>
                      </a:r>
                      <a:endParaRPr sz="1800" u="none" strike="noStrike" cap="none" dirty="0"/>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2996604">
                <a:tc>
                  <a:txBody>
                    <a:bodyPr/>
                    <a:lstStyle/>
                    <a:p>
                      <a:pPr marL="0" marR="0" lvl="0" indent="0" algn="l" rtl="0">
                        <a:spcBef>
                          <a:spcPts val="0"/>
                        </a:spcBef>
                        <a:spcAft>
                          <a:spcPts val="0"/>
                        </a:spcAft>
                        <a:buNone/>
                      </a:pPr>
                      <a:r>
                        <a:rPr lang="en-IN" sz="2000" dirty="0"/>
                        <a:t>Nayana V M</a:t>
                      </a:r>
                      <a:endParaRPr sz="20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IN" sz="2000" dirty="0"/>
                        <a:t>Registered mail: </a:t>
                      </a:r>
                      <a:r>
                        <a:rPr lang="en-IN" sz="2000" dirty="0">
                          <a:hlinkClick r:id="rId3"/>
                        </a:rPr>
                        <a:t>nayana.vm.2026@gmail.com</a:t>
                      </a:r>
                      <a:endParaRPr lang="en-IN" sz="2000" dirty="0"/>
                    </a:p>
                    <a:p>
                      <a:pPr marL="0" marR="0" lvl="0" indent="0" algn="l" rtl="0">
                        <a:spcBef>
                          <a:spcPts val="0"/>
                        </a:spcBef>
                        <a:spcAft>
                          <a:spcPts val="0"/>
                        </a:spcAft>
                        <a:buNone/>
                      </a:pPr>
                      <a:endParaRPr lang="en-IN" sz="2000" dirty="0"/>
                    </a:p>
                    <a:p>
                      <a:pPr marL="0" marR="0" lvl="0" indent="0" algn="l" rtl="0">
                        <a:spcBef>
                          <a:spcPts val="0"/>
                        </a:spcBef>
                        <a:spcAft>
                          <a:spcPts val="0"/>
                        </a:spcAft>
                        <a:buNone/>
                      </a:pPr>
                      <a:r>
                        <a:rPr lang="en-IN" sz="2000" dirty="0"/>
                        <a:t>AICTC mail:</a:t>
                      </a:r>
                    </a:p>
                    <a:p>
                      <a:pPr marL="0" marR="0" lvl="0" indent="0" algn="l" rtl="0">
                        <a:spcBef>
                          <a:spcPts val="0"/>
                        </a:spcBef>
                        <a:spcAft>
                          <a:spcPts val="0"/>
                        </a:spcAft>
                        <a:buNone/>
                      </a:pPr>
                      <a:r>
                        <a:rPr lang="en-IN" sz="2000" dirty="0"/>
                        <a:t>nayanavm31@gmail.com</a:t>
                      </a:r>
                      <a:endParaRPr sz="20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sz="2000" dirty="0"/>
                        <a:t>6361899393</a:t>
                      </a:r>
                      <a:endParaRPr sz="20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523220"/>
          </a:xfrm>
          <a:prstGeom prst="rect">
            <a:avLst/>
          </a:prstGeom>
          <a:noFill/>
        </p:spPr>
        <p:txBody>
          <a:bodyPr wrap="square" rtlCol="0">
            <a:spAutoFit/>
          </a:bodyPr>
          <a:lstStyle/>
          <a:p>
            <a:r>
              <a:rPr lang="en-US" sz="2400" b="1" dirty="0"/>
              <a:t>Domain of  Project – </a:t>
            </a:r>
            <a:r>
              <a:rPr lang="en-IN" sz="2800" dirty="0"/>
              <a:t>FinTech / Cyber Security / Public Welfare</a:t>
            </a:r>
            <a:endParaRPr lang="en-IN" sz="2800" b="1" dirty="0">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954107"/>
          </a:xfrm>
          <a:prstGeom prst="rect">
            <a:avLst/>
          </a:prstGeom>
          <a:noFill/>
        </p:spPr>
        <p:txBody>
          <a:bodyPr wrap="square" rtlCol="0">
            <a:spAutoFit/>
          </a:bodyPr>
          <a:lstStyle/>
          <a:p>
            <a:r>
              <a:rPr lang="en-US" sz="2400" b="1" dirty="0"/>
              <a:t>Project Tile – </a:t>
            </a:r>
            <a:r>
              <a:rPr lang="en-IN" sz="2800" dirty="0" err="1"/>
              <a:t>FinLitBot</a:t>
            </a:r>
            <a:r>
              <a:rPr lang="en-IN" sz="2800" dirty="0"/>
              <a:t> – AI Agent for Digital Financial Literacy &amp; Cyber Fraud Prevention </a:t>
            </a:r>
            <a:endParaRPr lang="en-IN" sz="2800" b="1" dirty="0">
              <a:highlight>
                <a:srgbClr val="FFFF00"/>
              </a:highlight>
            </a:endParaRPr>
          </a:p>
        </p:txBody>
      </p:sp>
      <p:pic>
        <p:nvPicPr>
          <p:cNvPr id="5" name="Picture 4">
            <a:extLst>
              <a:ext uri="{FF2B5EF4-FFF2-40B4-BE49-F238E27FC236}">
                <a16:creationId xmlns:a16="http://schemas.microsoft.com/office/drawing/2014/main" id="{DEB3196A-B4DF-111D-7DDE-B1165B8D9664}"/>
              </a:ext>
            </a:extLst>
          </p:cNvPr>
          <p:cNvPicPr>
            <a:picLocks noChangeAspect="1"/>
          </p:cNvPicPr>
          <p:nvPr/>
        </p:nvPicPr>
        <p:blipFill>
          <a:blip r:embed="rId4"/>
          <a:srcRect b="10237"/>
          <a:stretch>
            <a:fillRect/>
          </a:stretch>
        </p:blipFill>
        <p:spPr>
          <a:xfrm>
            <a:off x="3811480" y="3732959"/>
            <a:ext cx="2008087" cy="2166788"/>
          </a:xfrm>
          <a:prstGeom prst="rect">
            <a:avLst/>
          </a:prstGeom>
        </p:spPr>
      </p:pic>
    </p:spTree>
    <p:extLst>
      <p:ext uri="{BB962C8B-B14F-4D97-AF65-F5344CB8AC3E}">
        <p14:creationId xmlns:p14="http://schemas.microsoft.com/office/powerpoint/2010/main" val="9523178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641589"/>
            <a:ext cx="10607040" cy="6524863"/>
          </a:xfrm>
          <a:prstGeom prst="rect">
            <a:avLst/>
          </a:prstGeom>
          <a:noFill/>
        </p:spPr>
        <p:txBody>
          <a:bodyPr wrap="square" rtlCol="0">
            <a:spAutoFit/>
          </a:bodyPr>
          <a:lstStyle/>
          <a:p>
            <a:pPr fontAlgn="base"/>
            <a:r>
              <a:rPr lang="en-US" sz="2000" b="1" dirty="0"/>
              <a:t>Problem Statement </a:t>
            </a:r>
            <a:r>
              <a:rPr lang="en-US" b="1" dirty="0"/>
              <a:t>: </a:t>
            </a:r>
            <a:r>
              <a:rPr lang="en-IN" sz="1600" dirty="0"/>
              <a:t>AI Agent for Digital Financial Literacy</a:t>
            </a:r>
            <a:endParaRPr lang="en-US" sz="1600" dirty="0"/>
          </a:p>
          <a:p>
            <a:pPr fontAlgn="base"/>
            <a:endParaRPr lang="en-US" sz="1600" b="1" dirty="0"/>
          </a:p>
          <a:p>
            <a:pPr fontAlgn="base"/>
            <a:r>
              <a:rPr lang="en-US" sz="1600" b="1" dirty="0"/>
              <a:t>The Challenge</a:t>
            </a:r>
            <a:r>
              <a:rPr lang="en-US" sz="1600" dirty="0"/>
              <a:t> </a:t>
            </a:r>
          </a:p>
          <a:p>
            <a:pPr fontAlgn="base"/>
            <a:r>
              <a:rPr lang="en-IN" sz="1600" dirty="0"/>
              <a:t>Digital payment adoption via UPI in India has grown rapidly, leading to increased exposure to cyber fraud, phishing links, fake loan apps, and APK malware. Citizens often lack immediate, accessible guidance during unauthorized transactions, resulting in delayed reporting and lost funds</a:t>
            </a:r>
          </a:p>
          <a:p>
            <a:pPr fontAlgn="base"/>
            <a:endParaRPr lang="en-US" sz="1600" dirty="0"/>
          </a:p>
          <a:p>
            <a:pPr fontAlgn="base"/>
            <a:r>
              <a:rPr lang="en-US" sz="1600" b="1" dirty="0"/>
              <a:t>The Objective</a:t>
            </a:r>
            <a:r>
              <a:rPr lang="en-US" sz="1600" dirty="0"/>
              <a:t> </a:t>
            </a:r>
          </a:p>
          <a:p>
            <a:r>
              <a:rPr lang="en-IN" sz="1600" dirty="0"/>
              <a:t>Build an AI-powered Digital Financial Literacy Agent that provides real-time fraud </a:t>
            </a:r>
            <a:r>
              <a:rPr lang="en-IN" sz="1600" dirty="0" err="1"/>
              <a:t>defense</a:t>
            </a:r>
            <a:r>
              <a:rPr lang="en-IN" sz="1600" dirty="0"/>
              <a:t> and financial literacy guidance for digital payment users. The solution should: </a:t>
            </a:r>
          </a:p>
          <a:p>
            <a:pPr lvl="0"/>
            <a:r>
              <a:rPr lang="en-IN" sz="1600" b="1" dirty="0"/>
              <a:t>UPI Scam Protection –</a:t>
            </a:r>
            <a:r>
              <a:rPr lang="en-IN" sz="1600" dirty="0"/>
              <a:t> Verify suspicious collect requests and QR codes while enforcing the rule to never enter a PIN to receive money. </a:t>
            </a:r>
          </a:p>
          <a:p>
            <a:pPr lvl="0"/>
            <a:r>
              <a:rPr lang="en-IN" sz="1600" b="1" dirty="0"/>
              <a:t>Financial Safety RAG Retrieval –</a:t>
            </a:r>
            <a:r>
              <a:rPr lang="en-IN" sz="1600" dirty="0"/>
              <a:t> Ground advice in verified guidelines from RBI, NPCI, and official cybercrime portals. </a:t>
            </a:r>
          </a:p>
          <a:p>
            <a:pPr lvl="0"/>
            <a:r>
              <a:rPr lang="en-IN" sz="1600" b="1" dirty="0"/>
              <a:t>Incident Triage &amp; Helpline 1930 –</a:t>
            </a:r>
            <a:r>
              <a:rPr lang="en-IN" sz="1600" dirty="0"/>
              <a:t> Guide users through immediate Golden Hour bank freezes and cyber helpline reporting protocols. </a:t>
            </a:r>
          </a:p>
          <a:p>
            <a:pPr lvl="0"/>
            <a:r>
              <a:rPr lang="en-IN" sz="1600" b="1" dirty="0"/>
              <a:t>Safe Lending Advisory –</a:t>
            </a:r>
            <a:r>
              <a:rPr lang="en-IN" sz="1600" dirty="0"/>
              <a:t> Verify RBI-registered lenders and calculate transparent loan EMIs to avoid predatory loan traps. </a:t>
            </a:r>
          </a:p>
          <a:p>
            <a:pPr lvl="0"/>
            <a:r>
              <a:rPr lang="en-IN" sz="1600" b="1" dirty="0"/>
              <a:t>Multi-Agent System –</a:t>
            </a:r>
            <a:endParaRPr lang="en-IN" sz="1600" dirty="0"/>
          </a:p>
          <a:p>
            <a:pPr lvl="1"/>
            <a:r>
              <a:rPr lang="en-IN" sz="1600" b="1" dirty="0"/>
              <a:t>UPI Sentinel Agent</a:t>
            </a:r>
            <a:r>
              <a:rPr lang="en-IN" sz="1600" dirty="0"/>
              <a:t> (payment safety and scam verification) </a:t>
            </a:r>
          </a:p>
          <a:p>
            <a:pPr lvl="1"/>
            <a:r>
              <a:rPr lang="en-IN" sz="1600" b="1" dirty="0"/>
              <a:t>Fraud Response Agent</a:t>
            </a:r>
            <a:r>
              <a:rPr lang="en-IN" sz="1600" dirty="0"/>
              <a:t> (emergency 1930 triage and fund freeze steps) </a:t>
            </a:r>
          </a:p>
          <a:p>
            <a:pPr lvl="1"/>
            <a:r>
              <a:rPr lang="en-IN" sz="1600" b="1" dirty="0"/>
              <a:t>Lending Advisory Agent</a:t>
            </a:r>
            <a:r>
              <a:rPr lang="en-IN" sz="1600" dirty="0"/>
              <a:t> (lender verification and EMI calculations) </a:t>
            </a:r>
          </a:p>
          <a:p>
            <a:pPr lvl="1"/>
            <a:r>
              <a:rPr lang="en-IN" sz="1600" b="1" dirty="0"/>
              <a:t>Financial Literacy Agent</a:t>
            </a:r>
            <a:r>
              <a:rPr lang="en-IN" sz="1600" dirty="0"/>
              <a:t> (budgeting principles and credit score guidance) </a:t>
            </a:r>
          </a:p>
          <a:p>
            <a:pPr lvl="0"/>
            <a:r>
              <a:rPr lang="en-IN" sz="1600" b="1" dirty="0"/>
              <a:t>Visualization Dashboard –</a:t>
            </a:r>
            <a:r>
              <a:rPr lang="en-IN" sz="1600" dirty="0"/>
              <a:t> Provide a responsive web portal featuring real-time chat, threat telemetry, and an interactive EMI planner. </a:t>
            </a:r>
          </a:p>
          <a:p>
            <a:endParaRPr lang="en-IN" dirty="0"/>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179924"/>
            <a:ext cx="7214616" cy="461665"/>
          </a:xfrm>
          <a:prstGeom prst="rect">
            <a:avLst/>
          </a:prstGeom>
          <a:noFill/>
        </p:spPr>
        <p:txBody>
          <a:bodyPr wrap="square" rtlCol="0">
            <a:spAutoFit/>
          </a:bodyPr>
          <a:lstStyle/>
          <a:p>
            <a:r>
              <a:rPr lang="en-US" sz="2400" b="1" dirty="0"/>
              <a:t>Problem Statement -</a:t>
            </a:r>
            <a:endParaRPr lang="en-IN" sz="2400" b="1" dirty="0"/>
          </a:p>
        </p:txBody>
      </p:sp>
    </p:spTree>
    <p:extLst>
      <p:ext uri="{BB962C8B-B14F-4D97-AF65-F5344CB8AC3E}">
        <p14:creationId xmlns:p14="http://schemas.microsoft.com/office/powerpoint/2010/main" val="2616533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022004"/>
            <a:ext cx="10607040" cy="6186309"/>
          </a:xfrm>
          <a:prstGeom prst="rect">
            <a:avLst/>
          </a:prstGeom>
          <a:noFill/>
        </p:spPr>
        <p:txBody>
          <a:bodyPr wrap="square" rtlCol="0">
            <a:spAutoFit/>
          </a:bodyPr>
          <a:lstStyle/>
          <a:p>
            <a:pPr fontAlgn="base"/>
            <a:endParaRPr lang="en-US" b="1" dirty="0"/>
          </a:p>
          <a:p>
            <a:r>
              <a:rPr lang="en-US" b="1" dirty="0"/>
              <a:t>Proposed Solution: </a:t>
            </a:r>
            <a:r>
              <a:rPr lang="en-IN" sz="1800" dirty="0"/>
              <a:t>AI-Powered Digital Financial Literacy Agent</a:t>
            </a:r>
          </a:p>
          <a:p>
            <a:r>
              <a:rPr lang="en-IN" sz="1600" dirty="0"/>
              <a:t>The proposed solution is a multi-agent AI-powered financial protection and literacy copilot built using IBM Bob, IBM watsonx.ai, and Granite Models (</a:t>
            </a:r>
            <a:r>
              <a:rPr lang="en-IN" sz="1600" dirty="0" err="1"/>
              <a:t>ibm</a:t>
            </a:r>
            <a:r>
              <a:rPr lang="en-IN" sz="1600" dirty="0"/>
              <a:t>/granite-3-8b-instruct) to provide real-time fraud </a:t>
            </a:r>
            <a:r>
              <a:rPr lang="en-IN" sz="1600" dirty="0" err="1"/>
              <a:t>defense</a:t>
            </a:r>
            <a:r>
              <a:rPr lang="en-IN" sz="1600" dirty="0"/>
              <a:t>, payment safety verification, and financial guidance. The system addresses vulnerabilities in digital banking, phishing exposure, and predatory lending through an intelligent, modular architecture. </a:t>
            </a:r>
          </a:p>
          <a:p>
            <a:r>
              <a:rPr lang="en-IN" sz="1600" dirty="0"/>
              <a:t>At its core, the solution uses a Retrieval-Augmented Generation (RAG) pipeline grounded in verified regulatory frameworks from the Reserve Bank of India (RBI), NPCI, and the National Cyber Crime Reporting Portal. This ensures the agent delivers accurate, legally compliant security guidance and prevents misleading financial advice. </a:t>
            </a:r>
          </a:p>
          <a:p>
            <a:r>
              <a:rPr lang="en-IN" sz="1600" dirty="0"/>
              <a:t>The system consists of four key agents: </a:t>
            </a:r>
          </a:p>
          <a:p>
            <a:pPr lvl="0"/>
            <a:r>
              <a:rPr lang="en-IN" sz="1600" b="1" dirty="0"/>
              <a:t>UPI Sentinel Agent:</a:t>
            </a:r>
            <a:r>
              <a:rPr lang="en-IN" sz="1600" dirty="0"/>
              <a:t> Evaluates transaction requests, checks QR codes, and prevents fraud by strictly enforcing that a UPI PIN is never required to receive money. </a:t>
            </a:r>
          </a:p>
          <a:p>
            <a:pPr lvl="0"/>
            <a:r>
              <a:rPr lang="en-IN" sz="1600" b="1" dirty="0"/>
              <a:t>Cyber Fraud Triage Agent:</a:t>
            </a:r>
            <a:r>
              <a:rPr lang="en-IN" sz="1600" dirty="0"/>
              <a:t> Provides immediate incident support during unauthorized debits, guiding users through the critical Golden Hour protocol, bank freezes, and Helpline 1930 reporting. </a:t>
            </a:r>
          </a:p>
          <a:p>
            <a:pPr lvl="0"/>
            <a:r>
              <a:rPr lang="en-IN" sz="1600" b="1" dirty="0"/>
              <a:t>Safe Lending Advisory Agent:</a:t>
            </a:r>
            <a:r>
              <a:rPr lang="en-IN" sz="1600" dirty="0"/>
              <a:t> Assists users in verifying RBI-registered NBFCs against illegal loan apps and provides an automated calculator for transparent loan EMI analysis. </a:t>
            </a:r>
          </a:p>
          <a:p>
            <a:pPr lvl="0"/>
            <a:r>
              <a:rPr lang="en-IN" sz="1600" b="1" dirty="0"/>
              <a:t>Financial Literacy Agent:</a:t>
            </a:r>
            <a:r>
              <a:rPr lang="en-IN" sz="1600" dirty="0"/>
              <a:t> Educates users on foundational money management, including the 50/30/20 budgeting principle and maintaining a healthy CIBIL credit score. </a:t>
            </a:r>
          </a:p>
          <a:p>
            <a:r>
              <a:rPr lang="en-IN" sz="1600" dirty="0"/>
              <a:t>The solution includes a user-friendly dashboard (built with Python Flask, HTML5, and modern CSS) that visualizes threat telemetry, provides quick-action safety prompts, and includes an interactive loan calculator. </a:t>
            </a:r>
          </a:p>
          <a:p>
            <a:r>
              <a:rPr lang="en-IN" sz="1600" dirty="0"/>
              <a:t>IBM Bob is used to scaffold and orchestrate the agent workspace, while watsonx.ai ensures scalable model deployment, inference, and AI governance. IBM Granite models power the reasoning, intent classification, and advisory generation.</a:t>
            </a:r>
          </a:p>
          <a:p>
            <a:pPr fontAlgn="base"/>
            <a:endParaRPr lang="en-US" dirty="0"/>
          </a:p>
          <a:p>
            <a:endParaRPr lang="en-IN" dirty="0"/>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dirty="0"/>
              <a:t>Proposed Solution -</a:t>
            </a:r>
            <a:endParaRPr lang="en-IN" sz="2400" b="1" dirty="0"/>
          </a:p>
        </p:txBody>
      </p:sp>
    </p:spTree>
    <p:extLst>
      <p:ext uri="{BB962C8B-B14F-4D97-AF65-F5344CB8AC3E}">
        <p14:creationId xmlns:p14="http://schemas.microsoft.com/office/powerpoint/2010/main" val="6194599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lIns="91440" tIns="45720" rIns="91440" bIns="45720" rtlCol="0" anchor="t">
            <a:spAutoFit/>
          </a:bodyPr>
          <a:lstStyle/>
          <a:p>
            <a:r>
              <a:rPr lang="en-US" sz="2400" b="1"/>
              <a:t>Technology Used</a:t>
            </a:r>
            <a:endParaRPr lang="en-IN" sz="2400" b="1"/>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207008"/>
            <a:ext cx="10515600" cy="6340197"/>
          </a:xfrm>
          <a:prstGeom prst="rect">
            <a:avLst/>
          </a:prstGeom>
          <a:noFill/>
        </p:spPr>
        <p:txBody>
          <a:bodyPr wrap="square" rtlCol="0">
            <a:spAutoFit/>
          </a:bodyPr>
          <a:lstStyle/>
          <a:p>
            <a:pPr marL="285750" lvl="0" indent="-285750">
              <a:buFont typeface="Arial" panose="020B0604020202020204" pitchFamily="34" charset="0"/>
              <a:buChar char="•"/>
            </a:pPr>
            <a:r>
              <a:rPr lang="en-IN" sz="1800" b="1" dirty="0"/>
              <a:t>IBM Bob platform –</a:t>
            </a:r>
            <a:r>
              <a:rPr lang="en-IN" sz="1800" dirty="0"/>
              <a:t> Used for scaffolding, full-stack code generation, and structuring the modular agent architecture. </a:t>
            </a:r>
          </a:p>
          <a:p>
            <a:pPr lvl="0"/>
            <a:endParaRPr lang="en-IN" sz="1800" dirty="0"/>
          </a:p>
          <a:p>
            <a:pPr marL="285750" lvl="0" indent="-285750">
              <a:buFont typeface="Arial" panose="020B0604020202020204" pitchFamily="34" charset="0"/>
              <a:buChar char="•"/>
            </a:pPr>
            <a:r>
              <a:rPr lang="en-IN" sz="1800" b="1" dirty="0"/>
              <a:t>IBM Granite model (</a:t>
            </a:r>
            <a:r>
              <a:rPr lang="en-IN" sz="1800" b="1" dirty="0" err="1"/>
              <a:t>ibm</a:t>
            </a:r>
            <a:r>
              <a:rPr lang="en-IN" sz="1800" b="1" dirty="0"/>
              <a:t>/granite-3-8b-instruct) –</a:t>
            </a:r>
            <a:r>
              <a:rPr lang="en-IN" sz="1800" dirty="0"/>
              <a:t> Powers natural language understanding, intent classification, scam reasoning, and empathetic financial advisory responses. </a:t>
            </a:r>
          </a:p>
          <a:p>
            <a:pPr lvl="0"/>
            <a:endParaRPr lang="en-IN" sz="1800" dirty="0"/>
          </a:p>
          <a:p>
            <a:pPr marL="285750" lvl="0" indent="-285750">
              <a:buFont typeface="Arial" panose="020B0604020202020204" pitchFamily="34" charset="0"/>
              <a:buChar char="•"/>
            </a:pPr>
            <a:r>
              <a:rPr lang="en-IN" sz="1800" b="1" dirty="0"/>
              <a:t>IBM Cloud –</a:t>
            </a:r>
            <a:r>
              <a:rPr lang="en-IN" sz="1800" dirty="0"/>
              <a:t> Provides the cloud infrastructure, IAM OAuth authentication, and secure REST endpoints to run and scale the </a:t>
            </a:r>
            <a:r>
              <a:rPr lang="en-IN" sz="1800" dirty="0" err="1"/>
              <a:t>FinLit</a:t>
            </a:r>
            <a:r>
              <a:rPr lang="en-IN" sz="1800" dirty="0"/>
              <a:t> Agent reliably. </a:t>
            </a:r>
          </a:p>
          <a:p>
            <a:pPr lvl="0"/>
            <a:endParaRPr lang="en-IN" sz="1800" dirty="0"/>
          </a:p>
          <a:p>
            <a:pPr marL="285750" lvl="0" indent="-285750">
              <a:buFont typeface="Arial" panose="020B0604020202020204" pitchFamily="34" charset="0"/>
              <a:buChar char="•"/>
            </a:pPr>
            <a:r>
              <a:rPr lang="en-IN" sz="1800" b="1" dirty="0"/>
              <a:t>Retrieval-Augmented Generation (RAG) –</a:t>
            </a:r>
            <a:r>
              <a:rPr lang="en-IN" sz="1800" dirty="0"/>
              <a:t> Grounded in verified banking regulations and NPCI safety protocols before generating answers, preventing financial hallucinations and ensuring advice is legally sound. </a:t>
            </a:r>
          </a:p>
          <a:p>
            <a:pPr lvl="0"/>
            <a:endParaRPr lang="en-IN" sz="1800" dirty="0"/>
          </a:p>
          <a:p>
            <a:pPr marL="285750" lvl="0" indent="-285750">
              <a:buFont typeface="Arial" panose="020B0604020202020204" pitchFamily="34" charset="0"/>
              <a:buChar char="•"/>
            </a:pPr>
            <a:r>
              <a:rPr lang="en-IN" sz="1800" b="1" dirty="0"/>
              <a:t>IBM watsonx.ai –</a:t>
            </a:r>
            <a:r>
              <a:rPr lang="en-IN" sz="1800" dirty="0"/>
              <a:t> Manages foundation model inference, runtime parameters, token governance, and prompt optimization. </a:t>
            </a:r>
          </a:p>
          <a:p>
            <a:pPr lvl="0"/>
            <a:endParaRPr lang="en-IN" sz="1800" dirty="0"/>
          </a:p>
          <a:p>
            <a:pPr marL="285750" lvl="0" indent="-285750">
              <a:buFont typeface="Arial" panose="020B0604020202020204" pitchFamily="34" charset="0"/>
              <a:buChar char="•"/>
            </a:pPr>
            <a:r>
              <a:rPr lang="en-IN" sz="1800" b="1" dirty="0"/>
              <a:t>Domain Knowledge Base / Security Store –</a:t>
            </a:r>
            <a:r>
              <a:rPr lang="en-IN" sz="1800" dirty="0"/>
              <a:t> Stores official RBI guidelines, common fraud signatures (fake electricity bill APKs, fraudulent QR codes), and National Cyber Crime Helpline (1930) procedures for real-time retrieval.</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endParaRPr lang="en-US" sz="1800" dirty="0"/>
          </a:p>
          <a:p>
            <a:endParaRPr lang="en-US" dirty="0"/>
          </a:p>
          <a:p>
            <a:endParaRPr lang="en-IN" dirty="0"/>
          </a:p>
        </p:txBody>
      </p:sp>
    </p:spTree>
    <p:extLst>
      <p:ext uri="{BB962C8B-B14F-4D97-AF65-F5344CB8AC3E}">
        <p14:creationId xmlns:p14="http://schemas.microsoft.com/office/powerpoint/2010/main" val="4436039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a:sym typeface="Times New Roman"/>
              </a:rPr>
              <a:t>Required Files created using IBM bob -</a:t>
            </a:r>
            <a:endParaRPr sz="2400" b="1">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BB86949-7ED1-C43B-B1E3-5122BB67A596}"/>
              </a:ext>
            </a:extLst>
          </p:cNvPr>
          <p:cNvSpPr txBox="1"/>
          <p:nvPr/>
        </p:nvSpPr>
        <p:spPr>
          <a:xfrm>
            <a:off x="474822" y="863187"/>
            <a:ext cx="8823960" cy="4739759"/>
          </a:xfrm>
          <a:prstGeom prst="rect">
            <a:avLst/>
          </a:prstGeom>
          <a:noFill/>
        </p:spPr>
        <p:txBody>
          <a:bodyPr wrap="square" rtlCol="0">
            <a:spAutoFit/>
          </a:bodyPr>
          <a:lstStyle/>
          <a:p>
            <a:pPr marL="342900" indent="-342900">
              <a:buFont typeface="+mj-lt"/>
              <a:buAutoNum type="arabicPeriod"/>
            </a:pPr>
            <a:endParaRPr lang="en-US" dirty="0"/>
          </a:p>
          <a:p>
            <a:pPr marL="342900" indent="-342900">
              <a:buFont typeface="+mj-lt"/>
              <a:buAutoNum type="arabicPeriod"/>
            </a:pPr>
            <a:r>
              <a:rPr lang="en-US" sz="1800" dirty="0"/>
              <a:t>App.py</a:t>
            </a:r>
          </a:p>
          <a:p>
            <a:pPr marL="342900" indent="-342900">
              <a:buFont typeface="+mj-lt"/>
              <a:buAutoNum type="arabicPeriod"/>
            </a:pPr>
            <a:endParaRPr lang="en-US" sz="1800" dirty="0"/>
          </a:p>
          <a:p>
            <a:pPr marL="342900" indent="-342900">
              <a:buFont typeface="+mj-lt"/>
              <a:buAutoNum type="arabicPeriod"/>
            </a:pPr>
            <a:r>
              <a:rPr lang="en-US" sz="1800" dirty="0"/>
              <a:t>Requirements.txt</a:t>
            </a:r>
          </a:p>
          <a:p>
            <a:pPr marL="342900" indent="-342900">
              <a:buFont typeface="+mj-lt"/>
              <a:buAutoNum type="arabicPeriod"/>
            </a:pPr>
            <a:endParaRPr lang="en-US" sz="1800" dirty="0"/>
          </a:p>
          <a:p>
            <a:pPr marL="342900" indent="-342900">
              <a:buFont typeface="+mj-lt"/>
              <a:buAutoNum type="arabicPeriod"/>
            </a:pPr>
            <a:r>
              <a:rPr lang="en-US" sz="1800" dirty="0"/>
              <a:t>Style.css </a:t>
            </a:r>
          </a:p>
          <a:p>
            <a:pPr marL="342900" indent="-342900">
              <a:buFont typeface="+mj-lt"/>
              <a:buAutoNum type="arabicPeriod"/>
            </a:pPr>
            <a:endParaRPr lang="en-US" sz="1800" dirty="0"/>
          </a:p>
          <a:p>
            <a:pPr marL="342900" indent="-342900">
              <a:buFont typeface="+mj-lt"/>
              <a:buAutoNum type="arabicPeriod"/>
            </a:pPr>
            <a:r>
              <a:rPr lang="en-US" sz="1800" dirty="0"/>
              <a:t>.env</a:t>
            </a:r>
          </a:p>
          <a:p>
            <a:pPr marL="342900" indent="-342900">
              <a:buFont typeface="+mj-lt"/>
              <a:buAutoNum type="arabicPeriod"/>
            </a:pPr>
            <a:endParaRPr lang="en-US" sz="1800" dirty="0"/>
          </a:p>
          <a:p>
            <a:pPr marL="342900" indent="-342900">
              <a:buFont typeface="+mj-lt"/>
              <a:buAutoNum type="arabicPeriod"/>
            </a:pPr>
            <a:r>
              <a:rPr lang="en-US" sz="1800" dirty="0"/>
              <a:t>Index.html</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 </a:t>
            </a:r>
            <a:endParaRPr lang="en-IN" dirty="0"/>
          </a:p>
        </p:txBody>
      </p:sp>
      <p:pic>
        <p:nvPicPr>
          <p:cNvPr id="4" name="Picture 3">
            <a:extLst>
              <a:ext uri="{FF2B5EF4-FFF2-40B4-BE49-F238E27FC236}">
                <a16:creationId xmlns:a16="http://schemas.microsoft.com/office/drawing/2014/main" id="{60E2036D-913D-D8FB-3B33-E1E70BD6869C}"/>
              </a:ext>
            </a:extLst>
          </p:cNvPr>
          <p:cNvPicPr>
            <a:picLocks noChangeAspect="1"/>
          </p:cNvPicPr>
          <p:nvPr/>
        </p:nvPicPr>
        <p:blipFill>
          <a:blip r:embed="rId3"/>
          <a:srcRect b="6128"/>
          <a:stretch>
            <a:fillRect/>
          </a:stretch>
        </p:blipFill>
        <p:spPr>
          <a:xfrm>
            <a:off x="2893218" y="1339273"/>
            <a:ext cx="9125383" cy="5353865"/>
          </a:xfrm>
          <a:prstGeom prst="rect">
            <a:avLst/>
          </a:prstGeom>
        </p:spPr>
      </p:pic>
      <p:sp>
        <p:nvSpPr>
          <p:cNvPr id="9" name="Rectangle 8">
            <a:extLst>
              <a:ext uri="{FF2B5EF4-FFF2-40B4-BE49-F238E27FC236}">
                <a16:creationId xmlns:a16="http://schemas.microsoft.com/office/drawing/2014/main" id="{6FFF7BC6-93D0-8D42-34B7-C226B1B96C2D}"/>
              </a:ext>
            </a:extLst>
          </p:cNvPr>
          <p:cNvSpPr/>
          <p:nvPr/>
        </p:nvSpPr>
        <p:spPr>
          <a:xfrm>
            <a:off x="4306117" y="1531121"/>
            <a:ext cx="5973955" cy="422258"/>
          </a:xfrm>
          <a:prstGeom prst="rect">
            <a:avLst/>
          </a:prstGeom>
          <a:solidFill>
            <a:srgbClr val="E71224">
              <a:alpha val="5000"/>
            </a:srgbClr>
          </a:solidFill>
          <a:ln w="72000">
            <a:solidFill>
              <a:srgbClr val="E7122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rgbClr val="E71224"/>
              </a:solidFill>
            </a:endParaRPr>
          </a:p>
        </p:txBody>
      </p:sp>
      <p:sp>
        <p:nvSpPr>
          <p:cNvPr id="10" name="Arrow: Right 9">
            <a:extLst>
              <a:ext uri="{FF2B5EF4-FFF2-40B4-BE49-F238E27FC236}">
                <a16:creationId xmlns:a16="http://schemas.microsoft.com/office/drawing/2014/main" id="{A6C81E80-ED7B-4240-A8EE-0221D9ACD900}"/>
              </a:ext>
            </a:extLst>
          </p:cNvPr>
          <p:cNvSpPr/>
          <p:nvPr/>
        </p:nvSpPr>
        <p:spPr>
          <a:xfrm rot="8280234">
            <a:off x="7946774" y="966573"/>
            <a:ext cx="923544" cy="33832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1149636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3500" b="1" i="0" u="none" strike="noStrike" cap="none">
                <a:solidFill>
                  <a:srgbClr val="051D3A"/>
                </a:solidFill>
                <a:latin typeface="Times New Roman"/>
                <a:ea typeface="Times New Roman"/>
                <a:cs typeface="Times New Roman"/>
                <a:sym typeface="Times New Roman"/>
              </a:rPr>
              <a:t> </a:t>
            </a:r>
            <a:r>
              <a:rPr lang="en-US" sz="2400" b="1" i="0" u="none" strike="noStrike" cap="none">
                <a:solidFill>
                  <a:srgbClr val="051D3A"/>
                </a:solidFill>
                <a:latin typeface="Times New Roman"/>
                <a:ea typeface="Times New Roman"/>
                <a:cs typeface="Times New Roman"/>
                <a:sym typeface="Times New Roman"/>
              </a:rPr>
              <a:t>IBM Bob Screenshots:</a:t>
            </a:r>
            <a:endParaRPr sz="2400" b="1">
              <a:sym typeface="Times New Roman"/>
            </a:endParaRPr>
          </a:p>
        </p:txBody>
      </p:sp>
      <p:pic>
        <p:nvPicPr>
          <p:cNvPr id="7" name="Picture 6">
            <a:extLst>
              <a:ext uri="{FF2B5EF4-FFF2-40B4-BE49-F238E27FC236}">
                <a16:creationId xmlns:a16="http://schemas.microsoft.com/office/drawing/2014/main" id="{E29A877C-6315-8DB9-3B27-A5F4801DE4BE}"/>
              </a:ext>
            </a:extLst>
          </p:cNvPr>
          <p:cNvPicPr>
            <a:picLocks noChangeAspect="1"/>
          </p:cNvPicPr>
          <p:nvPr/>
        </p:nvPicPr>
        <p:blipFill>
          <a:blip r:embed="rId3"/>
          <a:srcRect b="6128"/>
          <a:stretch>
            <a:fillRect/>
          </a:stretch>
        </p:blipFill>
        <p:spPr>
          <a:xfrm>
            <a:off x="787327" y="858982"/>
            <a:ext cx="9936091" cy="5829508"/>
          </a:xfrm>
          <a:prstGeom prst="rect">
            <a:avLst/>
          </a:prstGeom>
        </p:spPr>
      </p:pic>
    </p:spTree>
    <p:extLst>
      <p:ext uri="{BB962C8B-B14F-4D97-AF65-F5344CB8AC3E}">
        <p14:creationId xmlns:p14="http://schemas.microsoft.com/office/powerpoint/2010/main" val="13165455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73A19A7-C8F3-F34E-2659-1FADA950BD91}"/>
              </a:ext>
            </a:extLst>
          </p:cNvPr>
          <p:cNvPicPr>
            <a:picLocks noChangeAspect="1"/>
          </p:cNvPicPr>
          <p:nvPr/>
        </p:nvPicPr>
        <p:blipFill>
          <a:blip r:embed="rId2"/>
          <a:srcRect b="6121"/>
          <a:stretch>
            <a:fillRect/>
          </a:stretch>
        </p:blipFill>
        <p:spPr>
          <a:xfrm>
            <a:off x="803563" y="274205"/>
            <a:ext cx="10536111" cy="6182013"/>
          </a:xfrm>
          <a:prstGeom prst="rect">
            <a:avLst/>
          </a:prstGeom>
          <a:solidFill>
            <a:srgbClr val="0D1017"/>
          </a:solidFill>
          <a:ln>
            <a:solidFill>
              <a:srgbClr val="0D1017"/>
            </a:solidFill>
          </a:ln>
        </p:spPr>
      </p:pic>
      <p:sp>
        <p:nvSpPr>
          <p:cNvPr id="4" name="Rectangle 3">
            <a:extLst>
              <a:ext uri="{FF2B5EF4-FFF2-40B4-BE49-F238E27FC236}">
                <a16:creationId xmlns:a16="http://schemas.microsoft.com/office/drawing/2014/main" id="{52D445BD-708A-B759-A1F5-2ACC0D6F215F}"/>
              </a:ext>
            </a:extLst>
          </p:cNvPr>
          <p:cNvSpPr/>
          <p:nvPr/>
        </p:nvSpPr>
        <p:spPr>
          <a:xfrm>
            <a:off x="8543636" y="4655127"/>
            <a:ext cx="3001819" cy="794328"/>
          </a:xfrm>
          <a:prstGeom prst="rect">
            <a:avLst/>
          </a:prstGeom>
          <a:noFill/>
          <a:ln>
            <a:noFill/>
          </a:ln>
        </p:spPr>
        <p:style>
          <a:lnRef idx="0">
            <a:scrgbClr r="0" g="0" b="0"/>
          </a:lnRef>
          <a:fillRef idx="0">
            <a:scrgbClr r="0" g="0" b="0"/>
          </a:fillRef>
          <a:effectRef idx="0">
            <a:scrgbClr r="0" g="0" b="0"/>
          </a:effectRef>
          <a:fontRef idx="minor">
            <a:schemeClr val="dk1"/>
          </a:fontRef>
        </p:style>
        <p:txBody>
          <a:bodyPr rtlCol="0" anchor="ctr"/>
          <a:lstStyle/>
          <a:p>
            <a:pPr algn="ctr"/>
            <a:endParaRPr lang="en-IN"/>
          </a:p>
        </p:txBody>
      </p:sp>
      <p:sp>
        <p:nvSpPr>
          <p:cNvPr id="6" name="Rectangle 5">
            <a:extLst>
              <a:ext uri="{FF2B5EF4-FFF2-40B4-BE49-F238E27FC236}">
                <a16:creationId xmlns:a16="http://schemas.microsoft.com/office/drawing/2014/main" id="{D4A8F41B-3660-4324-8310-7ADE79BCBF32}"/>
              </a:ext>
            </a:extLst>
          </p:cNvPr>
          <p:cNvSpPr/>
          <p:nvPr/>
        </p:nvSpPr>
        <p:spPr>
          <a:xfrm>
            <a:off x="8543636" y="4655127"/>
            <a:ext cx="2937164" cy="794328"/>
          </a:xfrm>
          <a:prstGeom prst="rect">
            <a:avLst/>
          </a:prstGeom>
          <a:noFill/>
          <a:ln>
            <a:noFill/>
          </a:ln>
        </p:spPr>
        <p:style>
          <a:lnRef idx="0">
            <a:scrgbClr r="0" g="0" b="0"/>
          </a:lnRef>
          <a:fillRef idx="0">
            <a:scrgbClr r="0" g="0" b="0"/>
          </a:fillRef>
          <a:effectRef idx="0">
            <a:scrgbClr r="0" g="0" b="0"/>
          </a:effectRef>
          <a:fontRef idx="minor">
            <a:schemeClr val="accent3"/>
          </a:fontRef>
        </p:style>
        <p:txBody>
          <a:bodyPr rtlCol="0" anchor="ctr"/>
          <a:lstStyle/>
          <a:p>
            <a:pPr algn="ctr"/>
            <a:endParaRPr lang="en-IN"/>
          </a:p>
        </p:txBody>
      </p:sp>
      <p:sp>
        <p:nvSpPr>
          <p:cNvPr id="7" name="Rectangle 6">
            <a:extLst>
              <a:ext uri="{FF2B5EF4-FFF2-40B4-BE49-F238E27FC236}">
                <a16:creationId xmlns:a16="http://schemas.microsoft.com/office/drawing/2014/main" id="{9A17D653-0FCC-B785-44F1-75232A46809D}"/>
              </a:ext>
            </a:extLst>
          </p:cNvPr>
          <p:cNvSpPr/>
          <p:nvPr/>
        </p:nvSpPr>
        <p:spPr>
          <a:xfrm>
            <a:off x="8337855" y="4719782"/>
            <a:ext cx="3001819" cy="729673"/>
          </a:xfrm>
          <a:prstGeom prst="rect">
            <a:avLst/>
          </a:prstGeom>
          <a:solidFill>
            <a:srgbClr val="0D1017"/>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IN">
              <a:ln>
                <a:solidFill>
                  <a:sysClr val="windowText" lastClr="000000"/>
                </a:solidFill>
              </a:ln>
              <a:solidFill>
                <a:sysClr val="windowText" lastClr="000000"/>
              </a:solidFill>
            </a:endParaRPr>
          </a:p>
        </p:txBody>
      </p:sp>
      <p:sp>
        <p:nvSpPr>
          <p:cNvPr id="9" name="Rectangle 8">
            <a:extLst>
              <a:ext uri="{FF2B5EF4-FFF2-40B4-BE49-F238E27FC236}">
                <a16:creationId xmlns:a16="http://schemas.microsoft.com/office/drawing/2014/main" id="{B43F9E4C-783E-D7A0-DA2C-FE311EF624FE}"/>
              </a:ext>
            </a:extLst>
          </p:cNvPr>
          <p:cNvSpPr/>
          <p:nvPr/>
        </p:nvSpPr>
        <p:spPr>
          <a:xfrm>
            <a:off x="4368801" y="2105892"/>
            <a:ext cx="3186545" cy="157018"/>
          </a:xfrm>
          <a:prstGeom prst="rect">
            <a:avLst/>
          </a:prstGeom>
          <a:solidFill>
            <a:srgbClr val="F25448">
              <a:alpha val="49804"/>
            </a:srgbClr>
          </a:solidFill>
          <a:ln w="28575">
            <a:solidFill>
              <a:srgbClr val="C00000"/>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IN"/>
          </a:p>
        </p:txBody>
      </p:sp>
      <p:sp>
        <p:nvSpPr>
          <p:cNvPr id="11" name="Rectangle 10">
            <a:extLst>
              <a:ext uri="{FF2B5EF4-FFF2-40B4-BE49-F238E27FC236}">
                <a16:creationId xmlns:a16="http://schemas.microsoft.com/office/drawing/2014/main" id="{400B1EC2-4AE6-ED6F-1969-C2747D20A415}"/>
              </a:ext>
            </a:extLst>
          </p:cNvPr>
          <p:cNvSpPr/>
          <p:nvPr/>
        </p:nvSpPr>
        <p:spPr>
          <a:xfrm>
            <a:off x="4170219" y="2369128"/>
            <a:ext cx="3186545" cy="157018"/>
          </a:xfrm>
          <a:prstGeom prst="rect">
            <a:avLst/>
          </a:prstGeom>
          <a:solidFill>
            <a:srgbClr val="F25448">
              <a:alpha val="49804"/>
            </a:srgbClr>
          </a:solidFill>
          <a:ln w="28575">
            <a:solidFill>
              <a:srgbClr val="C00000"/>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2323718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8FF23A-7370-3301-E162-DAEF3A5E2885}"/>
              </a:ext>
            </a:extLst>
          </p:cNvPr>
          <p:cNvSpPr>
            <a:spLocks noGrp="1"/>
          </p:cNvSpPr>
          <p:nvPr>
            <p:ph type="title"/>
          </p:nvPr>
        </p:nvSpPr>
        <p:spPr/>
        <p:txBody>
          <a:bodyPr/>
          <a:lstStyle/>
          <a:p>
            <a:endParaRPr lang="en-IN" dirty="0"/>
          </a:p>
        </p:txBody>
      </p:sp>
      <p:pic>
        <p:nvPicPr>
          <p:cNvPr id="5" name="Picture 4">
            <a:extLst>
              <a:ext uri="{FF2B5EF4-FFF2-40B4-BE49-F238E27FC236}">
                <a16:creationId xmlns:a16="http://schemas.microsoft.com/office/drawing/2014/main" id="{26F7DD2E-5E09-1F7A-9CB8-7BCE60E7334B}"/>
              </a:ext>
            </a:extLst>
          </p:cNvPr>
          <p:cNvPicPr>
            <a:picLocks noChangeAspect="1"/>
          </p:cNvPicPr>
          <p:nvPr/>
        </p:nvPicPr>
        <p:blipFill>
          <a:blip r:embed="rId2"/>
          <a:srcRect b="6263"/>
          <a:stretch>
            <a:fillRect/>
          </a:stretch>
        </p:blipFill>
        <p:spPr>
          <a:xfrm>
            <a:off x="704850" y="274269"/>
            <a:ext cx="10515600" cy="6160654"/>
          </a:xfrm>
          <a:prstGeom prst="rect">
            <a:avLst/>
          </a:prstGeom>
        </p:spPr>
      </p:pic>
      <p:sp>
        <p:nvSpPr>
          <p:cNvPr id="9" name="Rectangle 8">
            <a:extLst>
              <a:ext uri="{FF2B5EF4-FFF2-40B4-BE49-F238E27FC236}">
                <a16:creationId xmlns:a16="http://schemas.microsoft.com/office/drawing/2014/main" id="{E51EE836-D564-A8F9-279C-A6C188BD0F8F}"/>
              </a:ext>
            </a:extLst>
          </p:cNvPr>
          <p:cNvSpPr/>
          <p:nvPr/>
        </p:nvSpPr>
        <p:spPr>
          <a:xfrm>
            <a:off x="9264074" y="4652561"/>
            <a:ext cx="1847272" cy="846138"/>
          </a:xfrm>
          <a:prstGeom prst="rect">
            <a:avLst/>
          </a:prstGeom>
          <a:solidFill>
            <a:srgbClr val="0D1017"/>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IN">
              <a:ln>
                <a:solidFill>
                  <a:sysClr val="windowText" lastClr="000000"/>
                </a:solidFill>
              </a:ln>
              <a:solidFill>
                <a:sysClr val="windowText" lastClr="000000"/>
              </a:solidFill>
            </a:endParaRPr>
          </a:p>
        </p:txBody>
      </p:sp>
    </p:spTree>
    <p:extLst>
      <p:ext uri="{BB962C8B-B14F-4D97-AF65-F5344CB8AC3E}">
        <p14:creationId xmlns:p14="http://schemas.microsoft.com/office/powerpoint/2010/main" val="15673657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400" b="1">
                <a:solidFill>
                  <a:schemeClr val="dk1"/>
                </a:solidFill>
                <a:latin typeface="Calibri"/>
                <a:ea typeface="Calibri"/>
                <a:cs typeface="Calibri"/>
                <a:sym typeface="Calibri"/>
              </a:rPr>
              <a:t>Architecture blueprint for IBM bob:</a:t>
            </a:r>
            <a:endParaRPr lang="en-US" sz="2400"/>
          </a:p>
        </p:txBody>
      </p:sp>
      <p:pic>
        <p:nvPicPr>
          <p:cNvPr id="5" name="Picture 4">
            <a:extLst>
              <a:ext uri="{FF2B5EF4-FFF2-40B4-BE49-F238E27FC236}">
                <a16:creationId xmlns:a16="http://schemas.microsoft.com/office/drawing/2014/main" id="{2208C471-F444-D314-10B6-5BE5D6419F3E}"/>
              </a:ext>
            </a:extLst>
          </p:cNvPr>
          <p:cNvPicPr>
            <a:picLocks noChangeAspect="1"/>
          </p:cNvPicPr>
          <p:nvPr/>
        </p:nvPicPr>
        <p:blipFill>
          <a:blip r:embed="rId3"/>
          <a:stretch>
            <a:fillRect/>
          </a:stretch>
        </p:blipFill>
        <p:spPr>
          <a:xfrm>
            <a:off x="183703" y="771747"/>
            <a:ext cx="11824593" cy="5878435"/>
          </a:xfrm>
          <a:prstGeom prst="rect">
            <a:avLst/>
          </a:prstGeom>
        </p:spPr>
      </p:pic>
    </p:spTree>
    <p:extLst>
      <p:ext uri="{BB962C8B-B14F-4D97-AF65-F5344CB8AC3E}">
        <p14:creationId xmlns:p14="http://schemas.microsoft.com/office/powerpoint/2010/main" val="4451951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6" name="Google Shape;196;p9">
            <a:extLst>
              <a:ext uri="{FF2B5EF4-FFF2-40B4-BE49-F238E27FC236}">
                <a16:creationId xmlns:a16="http://schemas.microsoft.com/office/drawing/2014/main" id="{632F228F-4555-6FE1-3A72-BBDDEB215FB2}"/>
              </a:ext>
            </a:extLst>
          </p:cNvPr>
          <p:cNvPicPr preferRelativeResize="0"/>
          <p:nvPr/>
        </p:nvPicPr>
        <p:blipFill rotWithShape="1">
          <a:blip r:embed="rId3">
            <a:alphaModFix/>
          </a:blip>
          <a:srcRect/>
          <a:stretch/>
        </p:blipFill>
        <p:spPr>
          <a:xfrm>
            <a:off x="8371985" y="1176637"/>
            <a:ext cx="3015343" cy="4523014"/>
          </a:xfrm>
          <a:prstGeom prst="rect">
            <a:avLst/>
          </a:prstGeom>
          <a:noFill/>
          <a:ln>
            <a:noFill/>
          </a:ln>
        </p:spPr>
      </p:pic>
      <p:sp>
        <p:nvSpPr>
          <p:cNvPr id="8" name="TextBox 7">
            <a:extLst>
              <a:ext uri="{FF2B5EF4-FFF2-40B4-BE49-F238E27FC236}">
                <a16:creationId xmlns:a16="http://schemas.microsoft.com/office/drawing/2014/main" id="{A8C8C9BB-97D3-0DDE-B5B4-4D7F92F57C93}"/>
              </a:ext>
            </a:extLst>
          </p:cNvPr>
          <p:cNvSpPr txBox="1"/>
          <p:nvPr/>
        </p:nvSpPr>
        <p:spPr>
          <a:xfrm>
            <a:off x="475488" y="292608"/>
            <a:ext cx="9317736" cy="584775"/>
          </a:xfrm>
          <a:prstGeom prst="rect">
            <a:avLst/>
          </a:prstGeom>
          <a:noFill/>
        </p:spPr>
        <p:txBody>
          <a:bodyPr wrap="square" rtlCol="0">
            <a:spAutoFit/>
          </a:bodyPr>
          <a:lstStyle/>
          <a:p>
            <a:r>
              <a:rPr lang="en-US" sz="3200" b="1"/>
              <a:t>Role of Agentic AI in the solution </a:t>
            </a:r>
            <a:endParaRPr lang="en-IN" sz="3200" b="1"/>
          </a:p>
        </p:txBody>
      </p:sp>
      <p:sp>
        <p:nvSpPr>
          <p:cNvPr id="10" name="TextBox 9">
            <a:extLst>
              <a:ext uri="{FF2B5EF4-FFF2-40B4-BE49-F238E27FC236}">
                <a16:creationId xmlns:a16="http://schemas.microsoft.com/office/drawing/2014/main" id="{DF2EB29C-0370-768A-B5E3-BE7B2670580B}"/>
              </a:ext>
            </a:extLst>
          </p:cNvPr>
          <p:cNvSpPr txBox="1"/>
          <p:nvPr/>
        </p:nvSpPr>
        <p:spPr>
          <a:xfrm>
            <a:off x="621792" y="1176637"/>
            <a:ext cx="7406640" cy="3754874"/>
          </a:xfrm>
          <a:prstGeom prst="rect">
            <a:avLst/>
          </a:prstGeom>
          <a:noFill/>
        </p:spPr>
        <p:txBody>
          <a:bodyPr wrap="square" rtlCol="0">
            <a:spAutoFit/>
          </a:bodyPr>
          <a:lstStyle/>
          <a:p>
            <a:r>
              <a:rPr lang="en-GB" b="1" dirty="0"/>
              <a:t>Role of Agentic AI in Travel Planner Agent</a:t>
            </a:r>
          </a:p>
          <a:p>
            <a:r>
              <a:rPr lang="en-GB" b="1" dirty="0"/>
              <a:t>Agentic AI</a:t>
            </a:r>
            <a:r>
              <a:rPr lang="en-GB" dirty="0"/>
              <a:t> enables the Travel Planner Agent to function as an intelligent, autonomous system rather than a simple chatbot. Using </a:t>
            </a:r>
            <a:r>
              <a:rPr lang="en-GB" b="1" dirty="0"/>
              <a:t>IBM watsonx.ai</a:t>
            </a:r>
            <a:r>
              <a:rPr lang="en-GB" dirty="0"/>
              <a:t> and </a:t>
            </a:r>
            <a:r>
              <a:rPr lang="en-GB" b="1" dirty="0"/>
              <a:t>IBM Granite models</a:t>
            </a:r>
            <a:r>
              <a:rPr lang="en-GB" dirty="0"/>
              <a:t>, it coordinates multiple specialized agents to create personalized travel plans.</a:t>
            </a:r>
          </a:p>
          <a:p>
            <a:r>
              <a:rPr lang="en-GB" dirty="0"/>
              <a:t>Each agent performs a specific role—such as </a:t>
            </a:r>
            <a:r>
              <a:rPr lang="en-GB" b="1" dirty="0"/>
              <a:t>recommending destinations, creating itineraries, planning budgets, and providing travel guidance</a:t>
            </a:r>
            <a:r>
              <a:rPr lang="en-GB" dirty="0"/>
              <a:t>—while working collaboratively. This </a:t>
            </a:r>
            <a:r>
              <a:rPr lang="en-GB" b="1" dirty="0"/>
              <a:t>multi-agent approach</a:t>
            </a:r>
            <a:r>
              <a:rPr lang="en-GB" dirty="0"/>
              <a:t> enables efficient task execution and personalized travel planning.</a:t>
            </a:r>
          </a:p>
          <a:p>
            <a:r>
              <a:rPr lang="en-GB" dirty="0"/>
              <a:t>Agentic AI also provides </a:t>
            </a:r>
            <a:r>
              <a:rPr lang="en-GB" b="1" dirty="0"/>
              <a:t>context awareness</a:t>
            </a:r>
            <a:r>
              <a:rPr lang="en-GB" dirty="0"/>
              <a:t>, understanding user preferences such as budget, trip duration, interests, travel style, and transportation requirements to generate suitable recommendations. It supports </a:t>
            </a:r>
            <a:r>
              <a:rPr lang="en-GB" b="1" dirty="0"/>
              <a:t>dynamic adaptation</a:t>
            </a:r>
            <a:r>
              <a:rPr lang="en-GB" dirty="0"/>
              <a:t>, allowing travel plans to be modified based on changes in user requirements.</a:t>
            </a:r>
          </a:p>
          <a:p>
            <a:r>
              <a:rPr lang="en-GB" dirty="0"/>
              <a:t>Additionally, agents communicate with each other, enabling better coordination between </a:t>
            </a:r>
            <a:r>
              <a:rPr lang="en-GB" b="1" dirty="0"/>
              <a:t>destination selection, itinerary planning, budget management, and travel guidance</a:t>
            </a:r>
            <a:r>
              <a:rPr lang="en-GB" dirty="0"/>
              <a:t>.</a:t>
            </a:r>
          </a:p>
          <a:p>
            <a:r>
              <a:rPr lang="en-GB" dirty="0"/>
              <a:t>Overall, Agentic AI makes the system </a:t>
            </a:r>
            <a:r>
              <a:rPr lang="en-GB" b="1" dirty="0"/>
              <a:t>personalized, adaptive, and goal-driven</a:t>
            </a:r>
            <a:r>
              <a:rPr lang="en-GB" dirty="0"/>
              <a:t>, acting as a </a:t>
            </a:r>
            <a:r>
              <a:rPr lang="en-GB" b="1" dirty="0"/>
              <a:t>smart digital travel planner</a:t>
            </a:r>
            <a:r>
              <a:rPr lang="en-GB" dirty="0"/>
              <a:t> that helps users create practical and enjoyable travel experiences.</a:t>
            </a:r>
          </a:p>
        </p:txBody>
      </p:sp>
    </p:spTree>
    <p:extLst>
      <p:ext uri="{BB962C8B-B14F-4D97-AF65-F5344CB8AC3E}">
        <p14:creationId xmlns:p14="http://schemas.microsoft.com/office/powerpoint/2010/main" val="40006969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793192" y="3415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Token Usage </a:t>
            </a:r>
            <a:endParaRPr sz="2400" b="1">
              <a:sym typeface="Times New Roman"/>
            </a:endParaRPr>
          </a:p>
        </p:txBody>
      </p:sp>
      <p:sp>
        <p:nvSpPr>
          <p:cNvPr id="280" name="Google Shape;280;p18">
            <a:extLst>
              <a:ext uri="{FF2B5EF4-FFF2-40B4-BE49-F238E27FC236}">
                <a16:creationId xmlns:a16="http://schemas.microsoft.com/office/drawing/2014/main" id="{A4423EF4-BB52-2693-03DD-9F7D92D05218}"/>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FF042814-8077-DBD5-E8B6-E0D870CADB8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6A2761AF-8A54-98F2-52C2-794D9BA61C9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5" name="TextBox 4">
            <a:extLst>
              <a:ext uri="{FF2B5EF4-FFF2-40B4-BE49-F238E27FC236}">
                <a16:creationId xmlns:a16="http://schemas.microsoft.com/office/drawing/2014/main" id="{1BD576A0-BF64-32B6-1E59-49AA2C59C5CE}"/>
              </a:ext>
            </a:extLst>
          </p:cNvPr>
          <p:cNvSpPr txBox="1"/>
          <p:nvPr/>
        </p:nvSpPr>
        <p:spPr>
          <a:xfrm>
            <a:off x="897392" y="1042133"/>
            <a:ext cx="4371171"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IN" dirty="0"/>
              <a:t>8,600 </a:t>
            </a:r>
            <a:r>
              <a:rPr lang="en-US" dirty="0"/>
              <a:t> token are used</a:t>
            </a:r>
          </a:p>
        </p:txBody>
      </p:sp>
      <p:sp>
        <p:nvSpPr>
          <p:cNvPr id="14" name="TextBox 13">
            <a:extLst>
              <a:ext uri="{FF2B5EF4-FFF2-40B4-BE49-F238E27FC236}">
                <a16:creationId xmlns:a16="http://schemas.microsoft.com/office/drawing/2014/main" id="{7B8E599E-5B1D-59CD-4F1D-CEF8D0CA327B}"/>
              </a:ext>
            </a:extLst>
          </p:cNvPr>
          <p:cNvSpPr txBox="1"/>
          <p:nvPr/>
        </p:nvSpPr>
        <p:spPr>
          <a:xfrm>
            <a:off x="1278639" y="1718067"/>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Before Prompt</a:t>
            </a:r>
          </a:p>
        </p:txBody>
      </p:sp>
      <p:sp>
        <p:nvSpPr>
          <p:cNvPr id="15" name="TextBox 14">
            <a:extLst>
              <a:ext uri="{FF2B5EF4-FFF2-40B4-BE49-F238E27FC236}">
                <a16:creationId xmlns:a16="http://schemas.microsoft.com/office/drawing/2014/main" id="{B22EA981-5113-2D05-C1A2-169306E1D47C}"/>
              </a:ext>
            </a:extLst>
          </p:cNvPr>
          <p:cNvSpPr txBox="1"/>
          <p:nvPr/>
        </p:nvSpPr>
        <p:spPr>
          <a:xfrm>
            <a:off x="7106828" y="1722919"/>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After the Prompt</a:t>
            </a:r>
          </a:p>
        </p:txBody>
      </p:sp>
      <p:pic>
        <p:nvPicPr>
          <p:cNvPr id="3" name="Picture 2">
            <a:extLst>
              <a:ext uri="{FF2B5EF4-FFF2-40B4-BE49-F238E27FC236}">
                <a16:creationId xmlns:a16="http://schemas.microsoft.com/office/drawing/2014/main" id="{17898B93-3962-8C94-BB69-FA61C8CE7F2D}"/>
              </a:ext>
            </a:extLst>
          </p:cNvPr>
          <p:cNvPicPr>
            <a:picLocks noChangeAspect="1"/>
          </p:cNvPicPr>
          <p:nvPr/>
        </p:nvPicPr>
        <p:blipFill>
          <a:blip r:embed="rId3"/>
          <a:srcRect t="16957" b="6020"/>
          <a:stretch>
            <a:fillRect/>
          </a:stretch>
        </p:blipFill>
        <p:spPr>
          <a:xfrm>
            <a:off x="390920" y="2241740"/>
            <a:ext cx="5384113" cy="3571997"/>
          </a:xfrm>
          <a:prstGeom prst="rect">
            <a:avLst/>
          </a:prstGeom>
        </p:spPr>
      </p:pic>
      <p:pic>
        <p:nvPicPr>
          <p:cNvPr id="6" name="Picture 5">
            <a:extLst>
              <a:ext uri="{FF2B5EF4-FFF2-40B4-BE49-F238E27FC236}">
                <a16:creationId xmlns:a16="http://schemas.microsoft.com/office/drawing/2014/main" id="{69EC0469-1D87-7B9F-14C5-61B2D84578D3}"/>
              </a:ext>
            </a:extLst>
          </p:cNvPr>
          <p:cNvPicPr>
            <a:picLocks noChangeAspect="1"/>
          </p:cNvPicPr>
          <p:nvPr/>
        </p:nvPicPr>
        <p:blipFill>
          <a:blip r:embed="rId4"/>
          <a:srcRect l="-472" t="10827" b="42655"/>
          <a:stretch>
            <a:fillRect/>
          </a:stretch>
        </p:blipFill>
        <p:spPr>
          <a:xfrm>
            <a:off x="6163057" y="2118177"/>
            <a:ext cx="5836600" cy="3695559"/>
          </a:xfrm>
          <a:prstGeom prst="rect">
            <a:avLst/>
          </a:prstGeom>
        </p:spPr>
      </p:pic>
      <p:cxnSp>
        <p:nvCxnSpPr>
          <p:cNvPr id="8" name="Straight Arrow Connector 7">
            <a:extLst>
              <a:ext uri="{FF2B5EF4-FFF2-40B4-BE49-F238E27FC236}">
                <a16:creationId xmlns:a16="http://schemas.microsoft.com/office/drawing/2014/main" id="{D144689D-3A57-4F65-9203-0F2969FAF006}"/>
              </a:ext>
            </a:extLst>
          </p:cNvPr>
          <p:cNvCxnSpPr/>
          <p:nvPr/>
        </p:nvCxnSpPr>
        <p:spPr>
          <a:xfrm>
            <a:off x="8013357" y="4027738"/>
            <a:ext cx="1037968" cy="512805"/>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318C4BC5-EABF-5C72-EB09-E6701E6D0642}"/>
              </a:ext>
            </a:extLst>
          </p:cNvPr>
          <p:cNvCxnSpPr>
            <a:cxnSpLocks/>
          </p:cNvCxnSpPr>
          <p:nvPr/>
        </p:nvCxnSpPr>
        <p:spPr>
          <a:xfrm flipV="1">
            <a:off x="11654115" y="5161512"/>
            <a:ext cx="0" cy="1214574"/>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934170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1863F011-FD59-2782-3732-0E3263170F5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78DA0257-5105-834D-150D-50732C7248D1}"/>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827D77C8-2496-7668-B3B3-927FD4DB704D}"/>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46BDB3C0-B0E9-3C3A-A974-6BF43591F3FC}"/>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8CB1AEC3-7C17-0CCE-61FA-643373D6AE2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pic>
        <p:nvPicPr>
          <p:cNvPr id="5" name="Picture 4">
            <a:extLst>
              <a:ext uri="{FF2B5EF4-FFF2-40B4-BE49-F238E27FC236}">
                <a16:creationId xmlns:a16="http://schemas.microsoft.com/office/drawing/2014/main" id="{88D80AD2-AE76-B494-BDA7-D48F4BE7EFDD}"/>
              </a:ext>
            </a:extLst>
          </p:cNvPr>
          <p:cNvPicPr>
            <a:picLocks noChangeAspect="1"/>
          </p:cNvPicPr>
          <p:nvPr/>
        </p:nvPicPr>
        <p:blipFill>
          <a:blip r:embed="rId3"/>
          <a:srcRect t="4904" b="5900"/>
          <a:stretch>
            <a:fillRect/>
          </a:stretch>
        </p:blipFill>
        <p:spPr>
          <a:xfrm>
            <a:off x="905448" y="936977"/>
            <a:ext cx="10067828" cy="5612525"/>
          </a:xfrm>
          <a:prstGeom prst="rect">
            <a:avLst/>
          </a:prstGeom>
        </p:spPr>
      </p:pic>
    </p:spTree>
    <p:extLst>
      <p:ext uri="{BB962C8B-B14F-4D97-AF65-F5344CB8AC3E}">
        <p14:creationId xmlns:p14="http://schemas.microsoft.com/office/powerpoint/2010/main" val="14299618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A1254DC3-8448-76A3-8631-9484D98C80E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A5DD5E73-E4F8-AB1C-5A5A-D4EBAD6FD1B8}"/>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E6E4A7DC-3E1D-42C4-3256-8A3109D5036E}"/>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1EC4E285-5561-2096-3270-252023A42F4B}"/>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A8B1B6D-C213-0DFE-C434-B14C5F9945F5}"/>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pic>
        <p:nvPicPr>
          <p:cNvPr id="4" name="Picture 3">
            <a:extLst>
              <a:ext uri="{FF2B5EF4-FFF2-40B4-BE49-F238E27FC236}">
                <a16:creationId xmlns:a16="http://schemas.microsoft.com/office/drawing/2014/main" id="{126E044C-4692-69D6-E532-A223FEE24654}"/>
              </a:ext>
            </a:extLst>
          </p:cNvPr>
          <p:cNvPicPr>
            <a:picLocks noChangeAspect="1"/>
          </p:cNvPicPr>
          <p:nvPr/>
        </p:nvPicPr>
        <p:blipFill>
          <a:blip r:embed="rId3"/>
          <a:srcRect t="4904" b="6207"/>
          <a:stretch>
            <a:fillRect/>
          </a:stretch>
        </p:blipFill>
        <p:spPr>
          <a:xfrm>
            <a:off x="840828" y="684632"/>
            <a:ext cx="9879724" cy="5488736"/>
          </a:xfrm>
          <a:prstGeom prst="rect">
            <a:avLst/>
          </a:prstGeom>
        </p:spPr>
      </p:pic>
    </p:spTree>
    <p:extLst>
      <p:ext uri="{BB962C8B-B14F-4D97-AF65-F5344CB8AC3E}">
        <p14:creationId xmlns:p14="http://schemas.microsoft.com/office/powerpoint/2010/main" val="35850923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E3C4AEBB-2963-4EEE-D8ED-E3B5ABCFF21F}"/>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67AD5A0A-54A3-BC96-26BB-9C49B61555EC}"/>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A12490E1-7210-03FA-8406-7044E50A98B3}"/>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D0575C07-AA6B-0149-734C-B101314C9343}"/>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77B9C142-F05E-0FCB-045D-6B4B10F795C3}"/>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pic>
        <p:nvPicPr>
          <p:cNvPr id="5" name="Picture 4">
            <a:extLst>
              <a:ext uri="{FF2B5EF4-FFF2-40B4-BE49-F238E27FC236}">
                <a16:creationId xmlns:a16="http://schemas.microsoft.com/office/drawing/2014/main" id="{635ECFC3-C6D0-6925-5803-A2ED3A0D089A}"/>
              </a:ext>
            </a:extLst>
          </p:cNvPr>
          <p:cNvPicPr>
            <a:picLocks noChangeAspect="1"/>
          </p:cNvPicPr>
          <p:nvPr/>
        </p:nvPicPr>
        <p:blipFill>
          <a:blip r:embed="rId3"/>
          <a:srcRect t="5211" b="5747"/>
          <a:stretch>
            <a:fillRect/>
          </a:stretch>
        </p:blipFill>
        <p:spPr>
          <a:xfrm>
            <a:off x="914400" y="770634"/>
            <a:ext cx="10324603" cy="5745780"/>
          </a:xfrm>
          <a:prstGeom prst="rect">
            <a:avLst/>
          </a:prstGeom>
        </p:spPr>
      </p:pic>
    </p:spTree>
    <p:extLst>
      <p:ext uri="{BB962C8B-B14F-4D97-AF65-F5344CB8AC3E}">
        <p14:creationId xmlns:p14="http://schemas.microsoft.com/office/powerpoint/2010/main" val="26019071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B448B4A4-F07E-95E1-0992-D9CA90BDFB1C}"/>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CF9E626E-32C4-2F6F-4FE7-6E366C57973A}"/>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2D23FE01-5C34-199C-E0CD-951C1C9F569C}"/>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25A25320-2130-3C06-9975-F251DBB856E5}"/>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6F7085E1-538A-05AF-341D-25E02AFB3BD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pic>
        <p:nvPicPr>
          <p:cNvPr id="7" name="Picture 6">
            <a:extLst>
              <a:ext uri="{FF2B5EF4-FFF2-40B4-BE49-F238E27FC236}">
                <a16:creationId xmlns:a16="http://schemas.microsoft.com/office/drawing/2014/main" id="{5A745FDF-6ECF-54B2-09EC-D554C30BCF9B}"/>
              </a:ext>
            </a:extLst>
          </p:cNvPr>
          <p:cNvPicPr>
            <a:picLocks noChangeAspect="1"/>
          </p:cNvPicPr>
          <p:nvPr/>
        </p:nvPicPr>
        <p:blipFill>
          <a:blip r:embed="rId3"/>
          <a:srcRect t="5057" b="6207"/>
          <a:stretch>
            <a:fillRect/>
          </a:stretch>
        </p:blipFill>
        <p:spPr>
          <a:xfrm>
            <a:off x="756745" y="816977"/>
            <a:ext cx="10366359" cy="5749160"/>
          </a:xfrm>
          <a:prstGeom prst="rect">
            <a:avLst/>
          </a:prstGeom>
        </p:spPr>
      </p:pic>
    </p:spTree>
    <p:extLst>
      <p:ext uri="{BB962C8B-B14F-4D97-AF65-F5344CB8AC3E}">
        <p14:creationId xmlns:p14="http://schemas.microsoft.com/office/powerpoint/2010/main" val="27349609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22F636E3-EF7F-374E-BA3C-5EA0C5F3F4C1}"/>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C47A05D5-BD03-C9C1-150A-BF52D5F61843}"/>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A178A462-D713-DCA1-BC58-36A7E300AD74}"/>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EC9666F8-1B8A-FAD6-9716-C5942A7632DD}"/>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3810519A-24F9-386C-C686-CBC368456B23}"/>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pic>
        <p:nvPicPr>
          <p:cNvPr id="3" name="Picture 2">
            <a:extLst>
              <a:ext uri="{FF2B5EF4-FFF2-40B4-BE49-F238E27FC236}">
                <a16:creationId xmlns:a16="http://schemas.microsoft.com/office/drawing/2014/main" id="{EE0149FA-AA59-2E0A-29E6-86FEEC11D644}"/>
              </a:ext>
            </a:extLst>
          </p:cNvPr>
          <p:cNvPicPr>
            <a:picLocks noChangeAspect="1"/>
          </p:cNvPicPr>
          <p:nvPr/>
        </p:nvPicPr>
        <p:blipFill>
          <a:blip r:embed="rId3"/>
          <a:srcRect t="5671" b="6361"/>
          <a:stretch>
            <a:fillRect/>
          </a:stretch>
        </p:blipFill>
        <p:spPr>
          <a:xfrm>
            <a:off x="672662" y="704192"/>
            <a:ext cx="10456657" cy="5749159"/>
          </a:xfrm>
          <a:prstGeom prst="rect">
            <a:avLst/>
          </a:prstGeom>
        </p:spPr>
      </p:pic>
    </p:spTree>
    <p:extLst>
      <p:ext uri="{BB962C8B-B14F-4D97-AF65-F5344CB8AC3E}">
        <p14:creationId xmlns:p14="http://schemas.microsoft.com/office/powerpoint/2010/main" val="372970993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93125B03-9769-B11E-10F3-18052728A1D6}"/>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A32A08B3-6699-D648-B732-2D572AD09138}"/>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50ECE305-5317-598B-E57C-F1E9F66DEB20}"/>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ED7E0EEC-B3B1-E44E-EA24-C31E03D07B53}"/>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2BC777D0-3A4F-5EDC-1D7B-1E33F4C6CE4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pic>
        <p:nvPicPr>
          <p:cNvPr id="3" name="Picture 2">
            <a:extLst>
              <a:ext uri="{FF2B5EF4-FFF2-40B4-BE49-F238E27FC236}">
                <a16:creationId xmlns:a16="http://schemas.microsoft.com/office/drawing/2014/main" id="{A97203DA-655B-EDF4-480A-9A6D4B42B43A}"/>
              </a:ext>
            </a:extLst>
          </p:cNvPr>
          <p:cNvPicPr>
            <a:picLocks noChangeAspect="1"/>
          </p:cNvPicPr>
          <p:nvPr/>
        </p:nvPicPr>
        <p:blipFill>
          <a:blip r:embed="rId3"/>
          <a:srcRect t="5211" b="6360"/>
          <a:stretch>
            <a:fillRect/>
          </a:stretch>
        </p:blipFill>
        <p:spPr>
          <a:xfrm>
            <a:off x="683173" y="816977"/>
            <a:ext cx="10174014" cy="5622994"/>
          </a:xfrm>
          <a:prstGeom prst="rect">
            <a:avLst/>
          </a:prstGeom>
        </p:spPr>
      </p:pic>
    </p:spTree>
    <p:extLst>
      <p:ext uri="{BB962C8B-B14F-4D97-AF65-F5344CB8AC3E}">
        <p14:creationId xmlns:p14="http://schemas.microsoft.com/office/powerpoint/2010/main" val="308902787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39BBA99A-49CF-EED6-1451-3FA9F09333F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51B42DD8-5773-C172-3DB8-098935546C86}"/>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77CC7CBE-58C5-71C0-B2BE-C8ED321C28AD}"/>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AA6F918E-57F0-E657-7DD9-0D4F52EC959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AFC0B02D-0EAC-4CB2-5786-A93942BCB5BD}"/>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pic>
        <p:nvPicPr>
          <p:cNvPr id="4" name="Picture 3">
            <a:extLst>
              <a:ext uri="{FF2B5EF4-FFF2-40B4-BE49-F238E27FC236}">
                <a16:creationId xmlns:a16="http://schemas.microsoft.com/office/drawing/2014/main" id="{6851E37D-9663-8856-25A9-82BDA0EFEB27}"/>
              </a:ext>
            </a:extLst>
          </p:cNvPr>
          <p:cNvPicPr>
            <a:picLocks noChangeAspect="1"/>
          </p:cNvPicPr>
          <p:nvPr/>
        </p:nvPicPr>
        <p:blipFill>
          <a:blip r:embed="rId3"/>
          <a:srcRect t="4904" b="6514"/>
          <a:stretch>
            <a:fillRect/>
          </a:stretch>
        </p:blipFill>
        <p:spPr>
          <a:xfrm>
            <a:off x="872358" y="816977"/>
            <a:ext cx="10216055" cy="5656015"/>
          </a:xfrm>
          <a:prstGeom prst="rect">
            <a:avLst/>
          </a:prstGeom>
        </p:spPr>
      </p:pic>
    </p:spTree>
    <p:extLst>
      <p:ext uri="{BB962C8B-B14F-4D97-AF65-F5344CB8AC3E}">
        <p14:creationId xmlns:p14="http://schemas.microsoft.com/office/powerpoint/2010/main" val="38475241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17B6C5FC-5C6E-3634-3E01-2FA71FE7A277}"/>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EC39FACD-BC64-6EBA-89AF-A6796194EEFF}"/>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09F06A70-532A-ADA6-BA1D-EDB0229026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5C976C72-44D3-2ED0-A4C3-341D17711C7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587FAF55-82AB-E385-B28C-A18F5578AD69}"/>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pic>
        <p:nvPicPr>
          <p:cNvPr id="4" name="Picture 3">
            <a:extLst>
              <a:ext uri="{FF2B5EF4-FFF2-40B4-BE49-F238E27FC236}">
                <a16:creationId xmlns:a16="http://schemas.microsoft.com/office/drawing/2014/main" id="{241C55FD-430B-1F71-F1A0-91A52DB31A06}"/>
              </a:ext>
            </a:extLst>
          </p:cNvPr>
          <p:cNvPicPr>
            <a:picLocks noChangeAspect="1"/>
          </p:cNvPicPr>
          <p:nvPr/>
        </p:nvPicPr>
        <p:blipFill>
          <a:blip r:embed="rId3"/>
          <a:srcRect t="6130" b="6207"/>
          <a:stretch>
            <a:fillRect/>
          </a:stretch>
        </p:blipFill>
        <p:spPr>
          <a:xfrm>
            <a:off x="350288" y="1304627"/>
            <a:ext cx="5871836" cy="4812394"/>
          </a:xfrm>
          <a:prstGeom prst="rect">
            <a:avLst/>
          </a:prstGeom>
        </p:spPr>
      </p:pic>
      <p:pic>
        <p:nvPicPr>
          <p:cNvPr id="6" name="Picture 5">
            <a:extLst>
              <a:ext uri="{FF2B5EF4-FFF2-40B4-BE49-F238E27FC236}">
                <a16:creationId xmlns:a16="http://schemas.microsoft.com/office/drawing/2014/main" id="{43C4F185-0122-8F40-1A65-18CD45AC9543}"/>
              </a:ext>
            </a:extLst>
          </p:cNvPr>
          <p:cNvPicPr>
            <a:picLocks noChangeAspect="1"/>
          </p:cNvPicPr>
          <p:nvPr/>
        </p:nvPicPr>
        <p:blipFill>
          <a:blip r:embed="rId4"/>
          <a:srcRect t="5977" b="10038"/>
          <a:stretch>
            <a:fillRect/>
          </a:stretch>
        </p:blipFill>
        <p:spPr>
          <a:xfrm>
            <a:off x="6547946" y="1172379"/>
            <a:ext cx="5496810" cy="4944641"/>
          </a:xfrm>
          <a:prstGeom prst="rect">
            <a:avLst/>
          </a:prstGeom>
        </p:spPr>
      </p:pic>
    </p:spTree>
    <p:extLst>
      <p:ext uri="{BB962C8B-B14F-4D97-AF65-F5344CB8AC3E}">
        <p14:creationId xmlns:p14="http://schemas.microsoft.com/office/powerpoint/2010/main" val="130634531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567033" y="158810"/>
            <a:ext cx="7123176" cy="461665"/>
          </a:xfrm>
          <a:prstGeom prst="rect">
            <a:avLst/>
          </a:prstGeom>
          <a:noFill/>
        </p:spPr>
        <p:txBody>
          <a:bodyPr wrap="square" rtlCol="0">
            <a:spAutoFit/>
          </a:bodyPr>
          <a:lstStyle/>
          <a:p>
            <a:r>
              <a:rPr lang="en-US" sz="2400" b="1" dirty="0"/>
              <a:t>Novelty and Uniqueness</a:t>
            </a:r>
            <a:endParaRPr lang="en-IN" sz="2400" b="1" dirty="0"/>
          </a:p>
        </p:txBody>
      </p:sp>
      <p:sp>
        <p:nvSpPr>
          <p:cNvPr id="3" name="TextBox 2">
            <a:extLst>
              <a:ext uri="{FF2B5EF4-FFF2-40B4-BE49-F238E27FC236}">
                <a16:creationId xmlns:a16="http://schemas.microsoft.com/office/drawing/2014/main" id="{ED65F54F-855A-0DB6-09A6-3212C5F7405B}"/>
              </a:ext>
            </a:extLst>
          </p:cNvPr>
          <p:cNvSpPr txBox="1"/>
          <p:nvPr/>
        </p:nvSpPr>
        <p:spPr>
          <a:xfrm>
            <a:off x="567033" y="725579"/>
            <a:ext cx="11301984" cy="6247864"/>
          </a:xfrm>
          <a:prstGeom prst="rect">
            <a:avLst/>
          </a:prstGeom>
          <a:noFill/>
        </p:spPr>
        <p:txBody>
          <a:bodyPr wrap="square" rtlCol="0">
            <a:spAutoFit/>
          </a:bodyPr>
          <a:lstStyle/>
          <a:p>
            <a:r>
              <a:rPr lang="en-IN" sz="2000" dirty="0"/>
              <a:t>The proposed </a:t>
            </a:r>
            <a:r>
              <a:rPr lang="en-IN" sz="2000" b="1" dirty="0" err="1"/>
              <a:t>FinLitBot</a:t>
            </a:r>
            <a:r>
              <a:rPr lang="en-IN" sz="2000" dirty="0"/>
              <a:t> stands out by combining </a:t>
            </a:r>
            <a:r>
              <a:rPr lang="en-IN" sz="2000" b="1" dirty="0"/>
              <a:t>Agentic AI, RAG, and Real-Time Threat Interception</a:t>
            </a:r>
            <a:r>
              <a:rPr lang="en-IN" sz="2000" dirty="0"/>
              <a:t> into a proactive financial </a:t>
            </a:r>
            <a:r>
              <a:rPr lang="en-IN" sz="2000" dirty="0" err="1"/>
              <a:t>defense</a:t>
            </a:r>
            <a:r>
              <a:rPr lang="en-IN" sz="2000" dirty="0"/>
              <a:t> and literacy system.</a:t>
            </a:r>
          </a:p>
          <a:p>
            <a:pPr lvl="0"/>
            <a:r>
              <a:rPr lang="en-IN" sz="2000" b="1" dirty="0"/>
              <a:t>Autonomous Incident Triage</a:t>
            </a:r>
            <a:r>
              <a:rPr lang="en-IN" sz="2000" dirty="0"/>
              <a:t> – Unlike static banking FAQ bots, </a:t>
            </a:r>
            <a:r>
              <a:rPr lang="en-IN" sz="2000" dirty="0" err="1"/>
              <a:t>FinLitBot</a:t>
            </a:r>
            <a:r>
              <a:rPr lang="en-IN" sz="2000" dirty="0"/>
              <a:t> initiates autonomous triage during the critical "Golden Hour" of cyber fraud, providing immediate escalation workflows for the National Cyber Crime Helpline (1930).</a:t>
            </a:r>
          </a:p>
          <a:p>
            <a:pPr lvl="0"/>
            <a:r>
              <a:rPr lang="en-IN" sz="2000" b="1" dirty="0"/>
              <a:t>Context-Aware Threat Interception</a:t>
            </a:r>
            <a:r>
              <a:rPr lang="en-IN" sz="2000" dirty="0"/>
              <a:t> – Proactively detects social engineering cues (e.g., fake electricity bill SMS, QR code debit requests, remote access APKs) and intervenes to prevent credential/PIN leakage before a transaction occurs.</a:t>
            </a:r>
          </a:p>
          <a:p>
            <a:pPr lvl="0"/>
            <a:r>
              <a:rPr lang="en-IN" sz="2000" b="1" dirty="0"/>
              <a:t>RAG-Grounded Regulatory Accuracy</a:t>
            </a:r>
            <a:r>
              <a:rPr lang="en-IN" sz="2000" dirty="0"/>
              <a:t> – Uses Retrieval-Augmented Generation anchored to official RBI guidelines, NPCI standards, and cybercrime reporting protocols, eliminating hallucinations and ensuring legally sound guidance.</a:t>
            </a:r>
          </a:p>
          <a:p>
            <a:pPr lvl="0"/>
            <a:r>
              <a:rPr lang="en-IN" sz="2000" b="1" dirty="0"/>
              <a:t>Bi-Directional Security Guardrails</a:t>
            </a:r>
            <a:r>
              <a:rPr lang="en-IN" sz="2000" dirty="0"/>
              <a:t> – Intercepts sensitive personal identifiable information (PII) and account credentials at the input layer before queries reach the model API, maintaining complete data privacy.</a:t>
            </a:r>
          </a:p>
          <a:p>
            <a:pPr lvl="0"/>
            <a:r>
              <a:rPr lang="en-IN" sz="2000" b="1" dirty="0"/>
              <a:t>Automated Dispute Resolution</a:t>
            </a:r>
            <a:r>
              <a:rPr lang="en-IN" sz="2000" dirty="0"/>
              <a:t> – Bridges guidance into action by structuring incident details for formal FIR registration on cybercrime.gov.in and lodging complaints under the RBI Integrated Ombudsman Scheme.</a:t>
            </a:r>
          </a:p>
          <a:p>
            <a:pPr lvl="0"/>
            <a:r>
              <a:rPr lang="en-IN" sz="2000" b="1" dirty="0"/>
              <a:t>Enterprise-Ready &amp; Scalable</a:t>
            </a:r>
            <a:r>
              <a:rPr lang="en-IN" sz="2000" dirty="0"/>
              <a:t> – Built natively on </a:t>
            </a:r>
            <a:r>
              <a:rPr lang="en-IN" sz="2000" b="1" dirty="0"/>
              <a:t>IBM watsonx.ai</a:t>
            </a:r>
            <a:r>
              <a:rPr lang="en-IN" sz="2000" dirty="0"/>
              <a:t> utilizing </a:t>
            </a:r>
            <a:r>
              <a:rPr lang="en-IN" sz="2000" b="1" dirty="0"/>
              <a:t>IBM Granite</a:t>
            </a:r>
            <a:r>
              <a:rPr lang="en-IN" sz="2000" dirty="0"/>
              <a:t> (</a:t>
            </a:r>
            <a:r>
              <a:rPr lang="en-IN" sz="2000" dirty="0" err="1"/>
              <a:t>ibm</a:t>
            </a:r>
            <a:r>
              <a:rPr lang="en-IN" sz="2000" dirty="0"/>
              <a:t>/granite-3-8b-instruct) for enterprise governance, verifiable token metrics, and compliant audit trails.</a:t>
            </a:r>
          </a:p>
        </p:txBody>
      </p:sp>
    </p:spTree>
    <p:extLst>
      <p:ext uri="{BB962C8B-B14F-4D97-AF65-F5344CB8AC3E}">
        <p14:creationId xmlns:p14="http://schemas.microsoft.com/office/powerpoint/2010/main" val="23252822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567559" y="24695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sym typeface="Times New Roman"/>
              </a:rPr>
              <a:t>Git Hub Link</a:t>
            </a:r>
            <a:endParaRPr sz="2400" b="1" dirty="0">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567559" y="950976"/>
            <a:ext cx="11277599" cy="5907024"/>
          </a:xfrm>
          <a:prstGeom prst="rect">
            <a:avLst/>
          </a:prstGeom>
          <a:noFill/>
          <a:ln>
            <a:noFill/>
          </a:ln>
        </p:spPr>
        <p:txBody>
          <a:bodyPr spcFirstLastPara="1" wrap="square" lIns="0" tIns="0" rIns="0" bIns="0" anchor="t" anchorCtr="0">
            <a:noAutofit/>
          </a:bodyPr>
          <a:lstStyle/>
          <a:p>
            <a:r>
              <a:rPr lang="en-IN" sz="1600" b="1" dirty="0"/>
              <a:t>Public Repository URL:</a:t>
            </a:r>
          </a:p>
          <a:p>
            <a:r>
              <a:rPr lang="en-IN" sz="1600" b="1">
                <a:hlinkClick r:id="rId3"/>
              </a:rPr>
              <a:t>https</a:t>
            </a:r>
            <a:r>
              <a:rPr lang="en-IN" sz="1600" b="1" dirty="0">
                <a:hlinkClick r:id="rId3"/>
              </a:rPr>
              <a:t>://github.com/Nayana-vm</a:t>
            </a:r>
            <a:r>
              <a:rPr lang="en-IN" sz="1600" b="1">
                <a:hlinkClick r:id="rId3"/>
              </a:rPr>
              <a:t>/FinLitBot-IBM-watsonx</a:t>
            </a:r>
            <a:r>
              <a:rPr lang="en-IN" sz="1600" b="1"/>
              <a:t> (</a:t>
            </a:r>
            <a:r>
              <a:rPr lang="en-IN" sz="1600" b="1" dirty="0"/>
              <a:t>https://github.com/Nayana-vm/FinLitBot-IBM-watsonx)</a:t>
            </a:r>
            <a:endParaRPr lang="en-IN" sz="1600" dirty="0"/>
          </a:p>
          <a:p>
            <a:r>
              <a:rPr lang="en-IN" sz="1600" i="1" dirty="0"/>
              <a:t>(Public repository verified — accessible without login credentials)</a:t>
            </a:r>
          </a:p>
          <a:p>
            <a:endParaRPr lang="en-IN" sz="1600" dirty="0"/>
          </a:p>
          <a:p>
            <a:r>
              <a:rPr lang="en-IN" sz="1600" b="1" dirty="0"/>
              <a:t>Uploaded Deliverables &amp; Repository Structure:</a:t>
            </a:r>
          </a:p>
          <a:p>
            <a:pPr lvl="0"/>
            <a:r>
              <a:rPr lang="en-IN" sz="1600" b="1" dirty="0"/>
              <a:t>IBM Cloud &amp; Agent Core Files:</a:t>
            </a:r>
            <a:endParaRPr lang="en-IN" sz="1600" dirty="0"/>
          </a:p>
          <a:p>
            <a:pPr lvl="1"/>
            <a:r>
              <a:rPr lang="en-IN" sz="1600" dirty="0"/>
              <a:t>app.py – Complete Flask middleware routing with input PII sanitization, Golden Hour keyword interceptor, and IBM watsonx.ai REST integration.</a:t>
            </a:r>
          </a:p>
          <a:p>
            <a:pPr lvl="1"/>
            <a:r>
              <a:rPr lang="en-IN" sz="1600" dirty="0"/>
              <a:t>templates/index.html &amp; static/style.css – Responsive web console featuring real-time chat, UPI Safety Index, and loan EMI calculator.</a:t>
            </a:r>
          </a:p>
          <a:p>
            <a:pPr lvl="1"/>
            <a:r>
              <a:rPr lang="en-IN" sz="1600" dirty="0"/>
              <a:t>requirements.txt &amp; .</a:t>
            </a:r>
            <a:r>
              <a:rPr lang="en-IN" sz="1600" dirty="0" err="1"/>
              <a:t>env.example</a:t>
            </a:r>
            <a:r>
              <a:rPr lang="en-IN" sz="1600" dirty="0"/>
              <a:t> – Production dependencies (</a:t>
            </a:r>
            <a:r>
              <a:rPr lang="en-IN" sz="1600" dirty="0" err="1"/>
              <a:t>ibm</a:t>
            </a:r>
            <a:r>
              <a:rPr lang="en-IN" sz="1600" dirty="0"/>
              <a:t>-</a:t>
            </a:r>
            <a:r>
              <a:rPr lang="en-IN" sz="1600" dirty="0" err="1"/>
              <a:t>watsonx</a:t>
            </a:r>
            <a:r>
              <a:rPr lang="en-IN" sz="1600" dirty="0"/>
              <a:t>-ai, flask, python-</a:t>
            </a:r>
            <a:r>
              <a:rPr lang="en-IN" sz="1600" dirty="0" err="1"/>
              <a:t>dotenv</a:t>
            </a:r>
            <a:r>
              <a:rPr lang="en-IN" sz="1600" dirty="0"/>
              <a:t>) and environment configuration template.</a:t>
            </a:r>
          </a:p>
          <a:p>
            <a:pPr lvl="0"/>
            <a:r>
              <a:rPr lang="en-IN" sz="1600" b="1" dirty="0"/>
              <a:t>Problem Statement Document:</a:t>
            </a:r>
            <a:endParaRPr lang="en-IN" sz="1600" dirty="0"/>
          </a:p>
          <a:p>
            <a:pPr lvl="1"/>
            <a:r>
              <a:rPr lang="en-IN" sz="1600" dirty="0"/>
              <a:t>docs/yourproblemstatement.pdf – Formal problem statement documentation for Track #7: </a:t>
            </a:r>
            <a:r>
              <a:rPr lang="en-IN" sz="1600" i="1" dirty="0"/>
              <a:t>AI Agent for Digital Financial Literacy &amp; Cyber Fraud Prevention</a:t>
            </a:r>
            <a:r>
              <a:rPr lang="en-IN" sz="1600" dirty="0"/>
              <a:t>.</a:t>
            </a:r>
          </a:p>
          <a:p>
            <a:pPr lvl="0"/>
            <a:r>
              <a:rPr lang="en-IN" sz="1600" b="1" dirty="0"/>
              <a:t>Project Final Presentation:</a:t>
            </a:r>
            <a:endParaRPr lang="en-IN" sz="1600" dirty="0"/>
          </a:p>
          <a:p>
            <a:pPr lvl="1"/>
            <a:r>
              <a:rPr lang="en-IN" sz="1600" dirty="0"/>
              <a:t>AICTE_IBM_BOB_Project_Submission_Template_for_EduentFoundation_.pptx – Complete final presentation deck with architecture diagrams, </a:t>
            </a:r>
            <a:r>
              <a:rPr lang="en-IN" sz="1600" dirty="0" err="1"/>
              <a:t>watsonx</a:t>
            </a:r>
            <a:r>
              <a:rPr lang="en-IN" sz="1600" dirty="0"/>
              <a:t> token metrics, and output screenshots.</a:t>
            </a:r>
          </a:p>
          <a:p>
            <a:pPr lvl="0"/>
            <a:r>
              <a:rPr lang="en-IN" sz="1600" b="1" dirty="0"/>
              <a:t>Detailed Technical Documentation (README.md):</a:t>
            </a:r>
            <a:endParaRPr lang="en-IN" sz="1600" dirty="0"/>
          </a:p>
          <a:p>
            <a:pPr lvl="1"/>
            <a:r>
              <a:rPr lang="en-IN" sz="1600" b="1" dirty="0"/>
              <a:t>Active Local Endpoints:</a:t>
            </a:r>
            <a:r>
              <a:rPr lang="en-IN" sz="1600" dirty="0"/>
              <a:t> Documented for http://localhost:5000/ and [http://127.0.0.1:5000/](http://127.0.0.1:5000/).</a:t>
            </a:r>
          </a:p>
          <a:p>
            <a:pPr lvl="1"/>
            <a:r>
              <a:rPr lang="en-IN" sz="1600" b="1" dirty="0" err="1"/>
              <a:t>watsonx</a:t>
            </a:r>
            <a:r>
              <a:rPr lang="en-IN" sz="1600" b="1" dirty="0"/>
              <a:t> Model Specs:</a:t>
            </a:r>
            <a:r>
              <a:rPr lang="en-IN" sz="1600" dirty="0"/>
              <a:t> Details for </a:t>
            </a:r>
            <a:r>
              <a:rPr lang="en-IN" sz="1600" dirty="0" err="1"/>
              <a:t>ibm</a:t>
            </a:r>
            <a:r>
              <a:rPr lang="en-IN" sz="1600" dirty="0"/>
              <a:t>/granite-3-8b-instruct, Dallas (us-south) region, and Project ID cf0ca7b7-d874-4c48-9ef4-122f821fb663.</a:t>
            </a:r>
          </a:p>
          <a:p>
            <a:pPr lvl="1"/>
            <a:r>
              <a:rPr lang="en-IN" sz="1600" b="1" dirty="0"/>
              <a:t>Resource Usage Verification:</a:t>
            </a:r>
            <a:r>
              <a:rPr lang="en-IN" sz="1600" dirty="0"/>
              <a:t> Breakdown of the ~8,600 Prompt Lab tokens consumed on IBM Cloud.</a:t>
            </a: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404041227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966952" y="383097"/>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sym typeface="Times New Roman"/>
              </a:rPr>
              <a:t>Future Scope </a:t>
            </a:r>
            <a:endParaRPr sz="2400" b="1" dirty="0">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966952" y="1221715"/>
            <a:ext cx="10163502" cy="4277001"/>
          </a:xfrm>
          <a:prstGeom prst="rect">
            <a:avLst/>
          </a:prstGeom>
          <a:noFill/>
          <a:ln>
            <a:noFill/>
          </a:ln>
        </p:spPr>
        <p:txBody>
          <a:bodyPr spcFirstLastPara="1" wrap="square" lIns="0" tIns="0" rIns="0" bIns="0" anchor="t" anchorCtr="0">
            <a:noAutofit/>
          </a:bodyPr>
          <a:lstStyle/>
          <a:p>
            <a:r>
              <a:rPr lang="en-IN" sz="2000" b="1" dirty="0"/>
              <a:t>1. Direct CFCFRMS &amp; Open Banking API Integration –</a:t>
            </a:r>
            <a:r>
              <a:rPr lang="en-IN" sz="2000" dirty="0"/>
              <a:t> Integrating </a:t>
            </a:r>
            <a:r>
              <a:rPr lang="en-IN" sz="2000" dirty="0" err="1"/>
              <a:t>FinLitBot</a:t>
            </a:r>
            <a:r>
              <a:rPr lang="en-IN" sz="2000" dirty="0"/>
              <a:t> directly with banking APIs via the Account Aggregator (AA) framework and the Citizen Financial Cyber Fraud Reporting and Management System (CFCFRMS). This will enable one-click automated transaction freezing and instant suspect account blacklisting during the critical Golden Hour, advancing the agent from guided triage to direct, user-authorized emergency intervention.</a:t>
            </a:r>
          </a:p>
          <a:p>
            <a:pPr marL="457200" indent="-457200">
              <a:buAutoNum type="arabicPeriod"/>
            </a:pPr>
            <a:endParaRPr lang="en-IN" sz="2000" dirty="0"/>
          </a:p>
          <a:p>
            <a:r>
              <a:rPr lang="en-IN" sz="2000" b="1" dirty="0"/>
              <a:t>2. Vernacular Voice-First Assistant &amp; Dialect Support –</a:t>
            </a:r>
            <a:r>
              <a:rPr lang="en-IN" sz="2000" dirty="0"/>
              <a:t> Deploying multilingual speech-to-speech AI models to support major Indian regional languages (Hindi, Kannada, Tamil, Telugu, Marathi, and Bengali). This will bridge the digital divide for semi-urban and rural demographics—frequent targets of UPI social engineering scams—allowing users to report fraud and receive instant guidance entirely through voice commands.</a:t>
            </a:r>
          </a:p>
          <a:p>
            <a:endParaRPr lang="en-IN" sz="2000" dirty="0"/>
          </a:p>
          <a:p>
            <a:r>
              <a:rPr lang="en-IN" sz="2000" b="1" dirty="0"/>
              <a:t>3. Proactive Mobile Threat &amp; Malicious APK Scanner –</a:t>
            </a:r>
            <a:r>
              <a:rPr lang="en-IN" sz="2000" dirty="0"/>
              <a:t> Expanding </a:t>
            </a:r>
            <a:r>
              <a:rPr lang="en-IN" sz="2000" dirty="0" err="1"/>
              <a:t>FinLitBot</a:t>
            </a:r>
            <a:r>
              <a:rPr lang="en-IN" sz="2000" dirty="0"/>
              <a:t> into an on-device mobile companion utility that scans incoming SMS payloads for phishing links, warns against suspicious e-challan/utility APK downloads, and automatically flags active screen-sharing apps (such as </a:t>
            </a:r>
            <a:r>
              <a:rPr lang="en-IN" sz="2000" dirty="0" err="1"/>
              <a:t>AnyDesk</a:t>
            </a:r>
            <a:r>
              <a:rPr lang="en-IN" sz="2000" dirty="0"/>
              <a:t> or TeamViewer) whenever banking or UPI applications are running.</a:t>
            </a: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74002846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sp>
        <p:nvSpPr>
          <p:cNvPr id="3" name="TextBox 2">
            <a:extLst>
              <a:ext uri="{FF2B5EF4-FFF2-40B4-BE49-F238E27FC236}">
                <a16:creationId xmlns:a16="http://schemas.microsoft.com/office/drawing/2014/main" id="{4837D5EE-379B-FDC5-0854-8AC81D31FADF}"/>
              </a:ext>
            </a:extLst>
          </p:cNvPr>
          <p:cNvSpPr txBox="1"/>
          <p:nvPr/>
        </p:nvSpPr>
        <p:spPr>
          <a:xfrm>
            <a:off x="552048" y="690061"/>
            <a:ext cx="11453139"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dirty="0" err="1"/>
              <a:t>Credly</a:t>
            </a:r>
            <a:r>
              <a:rPr lang="en-US" sz="2400" b="1" dirty="0"/>
              <a:t> certificate(Getting Started with Artificial Intelligence)  </a:t>
            </a:r>
          </a:p>
        </p:txBody>
      </p:sp>
      <p:pic>
        <p:nvPicPr>
          <p:cNvPr id="4" name="Picture 3">
            <a:extLst>
              <a:ext uri="{FF2B5EF4-FFF2-40B4-BE49-F238E27FC236}">
                <a16:creationId xmlns:a16="http://schemas.microsoft.com/office/drawing/2014/main" id="{05F5D9C4-4851-70AA-455D-72944811F2EC}"/>
              </a:ext>
            </a:extLst>
          </p:cNvPr>
          <p:cNvPicPr>
            <a:picLocks noChangeAspect="1"/>
          </p:cNvPicPr>
          <p:nvPr/>
        </p:nvPicPr>
        <p:blipFill>
          <a:blip r:embed="rId2"/>
          <a:srcRect l="34387" t="18545" r="10824" b="16321"/>
          <a:stretch>
            <a:fillRect/>
          </a:stretch>
        </p:blipFill>
        <p:spPr>
          <a:xfrm>
            <a:off x="2669628" y="1891863"/>
            <a:ext cx="6011917" cy="4466896"/>
          </a:xfrm>
          <a:prstGeom prst="rect">
            <a:avLst/>
          </a:prstGeom>
        </p:spPr>
      </p:pic>
    </p:spTree>
    <p:extLst>
      <p:ext uri="{BB962C8B-B14F-4D97-AF65-F5344CB8AC3E}">
        <p14:creationId xmlns:p14="http://schemas.microsoft.com/office/powerpoint/2010/main" val="283348271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E25E1D-DF4E-2A3A-B690-3F3EDEAACAED}"/>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6C65C040-C831-FA7C-E185-7568BF4EC4C9}"/>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sp>
        <p:nvSpPr>
          <p:cNvPr id="3" name="TextBox 2">
            <a:extLst>
              <a:ext uri="{FF2B5EF4-FFF2-40B4-BE49-F238E27FC236}">
                <a16:creationId xmlns:a16="http://schemas.microsoft.com/office/drawing/2014/main" id="{CF324DF3-6233-3692-43E1-28D94C36F5DC}"/>
              </a:ext>
            </a:extLst>
          </p:cNvPr>
          <p:cNvSpPr txBox="1"/>
          <p:nvPr/>
        </p:nvSpPr>
        <p:spPr>
          <a:xfrm>
            <a:off x="552048" y="690061"/>
            <a:ext cx="11453139"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dirty="0" err="1"/>
              <a:t>Credly</a:t>
            </a:r>
            <a:r>
              <a:rPr lang="en-US" sz="2400" b="1" dirty="0"/>
              <a:t> certificate(Getting Started with Cybersecurity)  </a:t>
            </a:r>
          </a:p>
        </p:txBody>
      </p:sp>
      <p:pic>
        <p:nvPicPr>
          <p:cNvPr id="5" name="Picture 4">
            <a:extLst>
              <a:ext uri="{FF2B5EF4-FFF2-40B4-BE49-F238E27FC236}">
                <a16:creationId xmlns:a16="http://schemas.microsoft.com/office/drawing/2014/main" id="{E86FE129-0DFE-EBCC-928C-9630E72FD37A}"/>
              </a:ext>
            </a:extLst>
          </p:cNvPr>
          <p:cNvPicPr>
            <a:picLocks noChangeAspect="1"/>
          </p:cNvPicPr>
          <p:nvPr/>
        </p:nvPicPr>
        <p:blipFill>
          <a:blip r:embed="rId2"/>
          <a:srcRect l="22695" t="15733" r="22472" b="18267"/>
          <a:stretch>
            <a:fillRect/>
          </a:stretch>
        </p:blipFill>
        <p:spPr>
          <a:xfrm>
            <a:off x="3099816" y="1078992"/>
            <a:ext cx="6016752" cy="4526280"/>
          </a:xfrm>
          <a:prstGeom prst="rect">
            <a:avLst/>
          </a:prstGeom>
        </p:spPr>
      </p:pic>
    </p:spTree>
    <p:extLst>
      <p:ext uri="{BB962C8B-B14F-4D97-AF65-F5344CB8AC3E}">
        <p14:creationId xmlns:p14="http://schemas.microsoft.com/office/powerpoint/2010/main" val="8982974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7BD859-C7AB-A257-A2BB-BA2606D94C74}"/>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4ABDE598-52D2-5644-65BF-0C4CD946EC05}"/>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sp>
        <p:nvSpPr>
          <p:cNvPr id="3" name="TextBox 2">
            <a:extLst>
              <a:ext uri="{FF2B5EF4-FFF2-40B4-BE49-F238E27FC236}">
                <a16:creationId xmlns:a16="http://schemas.microsoft.com/office/drawing/2014/main" id="{EECC4C57-FB3C-DB42-770B-AA34E642D3B8}"/>
              </a:ext>
            </a:extLst>
          </p:cNvPr>
          <p:cNvSpPr txBox="1"/>
          <p:nvPr/>
        </p:nvSpPr>
        <p:spPr>
          <a:xfrm>
            <a:off x="552048" y="690061"/>
            <a:ext cx="11453139"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dirty="0" err="1"/>
              <a:t>Credly</a:t>
            </a:r>
            <a:r>
              <a:rPr lang="en-US" sz="2400" b="1" dirty="0"/>
              <a:t> certificate(Journey to cloud :Envisioning your solution)  </a:t>
            </a:r>
          </a:p>
        </p:txBody>
      </p:sp>
      <p:pic>
        <p:nvPicPr>
          <p:cNvPr id="4" name="Picture 3">
            <a:extLst>
              <a:ext uri="{FF2B5EF4-FFF2-40B4-BE49-F238E27FC236}">
                <a16:creationId xmlns:a16="http://schemas.microsoft.com/office/drawing/2014/main" id="{411C7E07-E65B-049F-1848-682A9B39670F}"/>
              </a:ext>
            </a:extLst>
          </p:cNvPr>
          <p:cNvPicPr>
            <a:picLocks noChangeAspect="1"/>
          </p:cNvPicPr>
          <p:nvPr/>
        </p:nvPicPr>
        <p:blipFill>
          <a:blip r:embed="rId2"/>
          <a:srcRect l="19278" t="15733" r="19056" b="10062"/>
          <a:stretch>
            <a:fillRect/>
          </a:stretch>
        </p:blipFill>
        <p:spPr>
          <a:xfrm>
            <a:off x="2734056" y="1367169"/>
            <a:ext cx="6273732" cy="4718304"/>
          </a:xfrm>
          <a:prstGeom prst="rect">
            <a:avLst/>
          </a:prstGeom>
        </p:spPr>
      </p:pic>
    </p:spTree>
    <p:extLst>
      <p:ext uri="{BB962C8B-B14F-4D97-AF65-F5344CB8AC3E}">
        <p14:creationId xmlns:p14="http://schemas.microsoft.com/office/powerpoint/2010/main" val="214517761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Arial"/>
              </a:rPr>
              <a:t>Certificates Earned:</a:t>
            </a:r>
            <a:r>
              <a:rPr sz="2400" b="0" i="0">
                <a:solidFill>
                  <a:srgbClr val="000000"/>
                </a:solidFill>
                <a:latin typeface="Arial"/>
                <a:ea typeface="Arial"/>
                <a:cs typeface="Arial"/>
              </a:rPr>
              <a:t>​</a:t>
            </a:r>
            <a:endParaRPr lang="en-US"/>
          </a:p>
          <a:p>
            <a:pPr algn="ctr"/>
            <a:endParaRPr lang="en-US"/>
          </a:p>
        </p:txBody>
      </p:sp>
      <p:sp>
        <p:nvSpPr>
          <p:cNvPr id="6" name="TextBox 5">
            <a:extLst>
              <a:ext uri="{FF2B5EF4-FFF2-40B4-BE49-F238E27FC236}">
                <a16:creationId xmlns:a16="http://schemas.microsoft.com/office/drawing/2014/main" id="{C0D36B1A-26C2-CD55-1032-4CB5E4EDF305}"/>
              </a:ext>
            </a:extLst>
          </p:cNvPr>
          <p:cNvSpPr txBox="1"/>
          <p:nvPr/>
        </p:nvSpPr>
        <p:spPr>
          <a:xfrm>
            <a:off x="496843" y="800470"/>
            <a:ext cx="5437681"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dirty="0"/>
              <a:t>IBM BOB Certificate</a:t>
            </a:r>
          </a:p>
        </p:txBody>
      </p:sp>
      <p:pic>
        <p:nvPicPr>
          <p:cNvPr id="3" name="Picture 2">
            <a:extLst>
              <a:ext uri="{FF2B5EF4-FFF2-40B4-BE49-F238E27FC236}">
                <a16:creationId xmlns:a16="http://schemas.microsoft.com/office/drawing/2014/main" id="{08855C9E-779F-118A-F65A-B19DFD422AD2}"/>
              </a:ext>
            </a:extLst>
          </p:cNvPr>
          <p:cNvPicPr>
            <a:picLocks noChangeAspect="1"/>
          </p:cNvPicPr>
          <p:nvPr/>
        </p:nvPicPr>
        <p:blipFill>
          <a:blip r:embed="rId2"/>
          <a:srcRect l="9770" t="16092" r="15614" b="10498"/>
          <a:stretch>
            <a:fillRect/>
          </a:stretch>
        </p:blipFill>
        <p:spPr>
          <a:xfrm>
            <a:off x="1723695" y="1477578"/>
            <a:ext cx="8187559" cy="5034455"/>
          </a:xfrm>
          <a:prstGeom prst="rect">
            <a:avLst/>
          </a:prstGeom>
        </p:spPr>
      </p:pic>
    </p:spTree>
    <p:extLst>
      <p:ext uri="{BB962C8B-B14F-4D97-AF65-F5344CB8AC3E}">
        <p14:creationId xmlns:p14="http://schemas.microsoft.com/office/powerpoint/2010/main" val="417517770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extLst>
      <p:ext uri="{BB962C8B-B14F-4D97-AF65-F5344CB8AC3E}">
        <p14:creationId xmlns:p14="http://schemas.microsoft.com/office/powerpoint/2010/main" val="1440137342"/>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170</TotalTime>
  <Words>1845</Words>
  <Application>Microsoft Office PowerPoint</Application>
  <PresentationFormat>Widescreen</PresentationFormat>
  <Paragraphs>173</Paragraphs>
  <Slides>28</Slides>
  <Notes>21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Dell .</cp:lastModifiedBy>
  <cp:revision>11</cp:revision>
  <dcterms:created xsi:type="dcterms:W3CDTF">2025-07-08T05:06:56Z</dcterms:created>
  <dcterms:modified xsi:type="dcterms:W3CDTF">2026-09-11T16:01:40Z</dcterms:modified>
</cp:coreProperties>
</file>